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44" r:id="rId1"/>
  </p:sldMasterIdLst>
  <p:notesMasterIdLst>
    <p:notesMasterId r:id="rId4"/>
  </p:notesMasterIdLst>
  <p:handoutMasterIdLst>
    <p:handoutMasterId r:id="rId5"/>
  </p:handoutMasterIdLst>
  <p:sldIdLst>
    <p:sldId id="256" r:id="rId2"/>
    <p:sldId id="760" r:id="rId3"/>
  </p:sldIdLst>
  <p:sldSz cx="12192000" cy="88376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481026-CA89-FC0A-DF9D-7E31389F1CB9}" name="Steve Deng" initials="SD" userId="S::steve.deng@gartner.com::b295a12d-f5c9-4bba-ac39-852c1a76bd6a" providerId="AD"/>
  <p188:author id="{B060FA67-3D1B-C44D-5DE2-D356E182A232}" name="Brad Dayley" initials="BD" userId="S::Brad.Dayley@gartner.com::5d361f27-4db8-4ef9-83b2-a31590c68b2a" providerId="AD"/>
  <p188:author id="{48A1D883-91AF-9E45-3373-30ED8A85B3AD}" name="Kevin Matheny" initials="KM" userId="S::kevin.matheny@gartner.com::8ddae79c-fdd7-4a56-80a2-fd1c88ea4e3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afferty,Charles" initials="R" lastIdx="3" clrIdx="0">
    <p:extLst>
      <p:ext uri="{19B8F6BF-5375-455C-9EA6-DF929625EA0E}">
        <p15:presenceInfo xmlns:p15="http://schemas.microsoft.com/office/powerpoint/2012/main" userId="S-1-5-21-802951002-2094223479-794563710-77561" providerId="AD"/>
      </p:ext>
    </p:extLst>
  </p:cmAuthor>
  <p:cmAuthor id="2" name="Microsoft Office User" initials="MOU" lastIdx="2" clrIdx="1">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56"/>
    <a:srgbClr val="009AD7"/>
    <a:srgbClr val="6A80A3"/>
    <a:srgbClr val="355578"/>
    <a:srgbClr val="26486F"/>
    <a:srgbClr val="8E0000"/>
    <a:srgbClr val="0052D7"/>
    <a:srgbClr val="F4F4F4"/>
    <a:srgbClr val="172A54"/>
    <a:srgbClr val="6E78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1" autoAdjust="0"/>
    <p:restoredTop sz="94329" autoAdjust="0"/>
  </p:normalViewPr>
  <p:slideViewPr>
    <p:cSldViewPr snapToGrid="0">
      <p:cViewPr varScale="1">
        <p:scale>
          <a:sx n="55" d="100"/>
          <a:sy n="55" d="100"/>
        </p:scale>
        <p:origin x="1048" y="48"/>
      </p:cViewPr>
      <p:guideLst/>
    </p:cSldViewPr>
  </p:slideViewPr>
  <p:outlineViewPr>
    <p:cViewPr>
      <p:scale>
        <a:sx n="33" d="100"/>
        <a:sy n="33" d="100"/>
      </p:scale>
      <p:origin x="0" y="0"/>
    </p:cViewPr>
  </p:outlineViewPr>
  <p:notesTextViewPr>
    <p:cViewPr>
      <p:scale>
        <a:sx n="75" d="100"/>
        <a:sy n="75" d="100"/>
      </p:scale>
      <p:origin x="0" y="0"/>
    </p:cViewPr>
  </p:notesTextViewPr>
  <p:sorterViewPr>
    <p:cViewPr varScale="1">
      <p:scale>
        <a:sx n="100" d="100"/>
        <a:sy n="100" d="100"/>
      </p:scale>
      <p:origin x="0" y="0"/>
    </p:cViewPr>
  </p:sorterViewPr>
  <p:notesViewPr>
    <p:cSldViewPr snapToGrid="0">
      <p:cViewPr>
        <p:scale>
          <a:sx n="75" d="100"/>
          <a:sy n="75" d="100"/>
        </p:scale>
        <p:origin x="4312" y="5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8/10/relationships/authors" Targe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 Id="rId14"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E8F3FD-8012-4C7C-BCFB-C23E18FC275E}" type="datetimeFigureOut">
              <a:rPr lang="en-US" smtClean="0"/>
              <a:t>3/10/2025</a:t>
            </a:fld>
            <a:endParaRPr lang="en-US" dirty="0"/>
          </a:p>
        </p:txBody>
      </p:sp>
      <p:sp>
        <p:nvSpPr>
          <p:cNvPr id="6" name="TextBox 5"/>
          <p:cNvSpPr txBox="1"/>
          <p:nvPr/>
        </p:nvSpPr>
        <p:spPr>
          <a:xfrm>
            <a:off x="164123" y="8858218"/>
            <a:ext cx="6459416" cy="215444"/>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1CE9EA8B-DBE7-492B-893F-AD13AC039ED7}" type="slidenum">
              <a:rPr lang="en-US" sz="700" smtClean="0">
                <a:solidFill>
                  <a:srgbClr val="979D9D"/>
                </a:solidFill>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700" dirty="0">
                <a:solidFill>
                  <a:srgbClr val="979D9D"/>
                </a:solidFill>
              </a:rPr>
              <a:t>	© 2019 Gartner, Inc. and/or its affiliates. All rights reserved. Gartner is a registered trademark of Gartner, Inc. or its affiliates.</a:t>
            </a:r>
            <a:br>
              <a:rPr lang="en-US" sz="700" dirty="0">
                <a:solidFill>
                  <a:srgbClr val="979D9D"/>
                </a:solidFill>
              </a:rPr>
            </a:br>
            <a:r>
              <a:rPr lang="en-US" sz="700" b="1" dirty="0">
                <a:solidFill>
                  <a:srgbClr val="979D9D"/>
                </a:solidFill>
              </a:rPr>
              <a:t>INTERNAL — FOR INTERNAL USE ONLY or RESTRICTED [CHOSE ONE – DELETE AS APPROPRIATE] </a:t>
            </a:r>
            <a:r>
              <a:rPr lang="en-US" sz="700" b="0" baseline="0" dirty="0">
                <a:solidFill>
                  <a:srgbClr val="979D9D"/>
                </a:solidFill>
              </a:rPr>
              <a:t>| </a:t>
            </a:r>
            <a:r>
              <a:rPr lang="en-US" sz="700" dirty="0">
                <a:solidFill>
                  <a:srgbClr val="979D9D"/>
                </a:solidFill>
              </a:rPr>
              <a:t>Version X.X  Last updated [insert date format: DD Month YYYY]</a:t>
            </a:r>
          </a:p>
        </p:txBody>
      </p:sp>
    </p:spTree>
    <p:extLst>
      <p:ext uri="{BB962C8B-B14F-4D97-AF65-F5344CB8AC3E}">
        <p14:creationId xmlns:p14="http://schemas.microsoft.com/office/powerpoint/2010/main" val="102343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568450" y="712788"/>
            <a:ext cx="3721100" cy="269716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242371" y="3592535"/>
            <a:ext cx="6373258" cy="523481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p:cNvSpPr txBox="1"/>
          <p:nvPr/>
        </p:nvSpPr>
        <p:spPr>
          <a:xfrm rot="16200000">
            <a:off x="-1050931" y="1977711"/>
            <a:ext cx="2725105" cy="138499"/>
          </a:xfrm>
          <a:prstGeom prst="rect">
            <a:avLst/>
          </a:prstGeom>
          <a:noFill/>
        </p:spPr>
        <p:txBody>
          <a:bodyPr wrap="none" lIns="0" tIns="0" rIns="0" bIns="0" rtlCol="0" anchor="ctr">
            <a:spAutoFit/>
          </a:bodyPr>
          <a:lstStyle/>
          <a:p>
            <a:pPr algn="ctr">
              <a:spcBef>
                <a:spcPts val="0"/>
              </a:spcBef>
              <a:spcAft>
                <a:spcPts val="0"/>
              </a:spcAft>
            </a:pPr>
            <a:r>
              <a:rPr lang="en-US" sz="900" kern="1200" spc="100" baseline="0" dirty="0">
                <a:solidFill>
                  <a:srgbClr val="CDCDCD"/>
                </a:solidFill>
                <a:effectLst/>
              </a:rPr>
              <a:t>— NOT FOR EXTERNAL DISTRIBUTION —</a:t>
            </a:r>
            <a:endParaRPr lang="en-US" sz="900" spc="100" baseline="0" dirty="0">
              <a:solidFill>
                <a:srgbClr val="CDCDCD"/>
              </a:solidFill>
            </a:endParaRPr>
          </a:p>
        </p:txBody>
      </p:sp>
      <p:sp>
        <p:nvSpPr>
          <p:cNvPr id="12" name="TextBox 11"/>
          <p:cNvSpPr txBox="1"/>
          <p:nvPr/>
        </p:nvSpPr>
        <p:spPr>
          <a:xfrm rot="5400000">
            <a:off x="5183827" y="1977711"/>
            <a:ext cx="2725105" cy="138499"/>
          </a:xfrm>
          <a:prstGeom prst="rect">
            <a:avLst/>
          </a:prstGeom>
          <a:noFill/>
        </p:spPr>
        <p:txBody>
          <a:bodyPr wrap="none" lIns="0" tIns="0" rIns="0" bIns="0" rtlCol="0" anchor="ctr">
            <a:spAutoFit/>
          </a:bodyPr>
          <a:lstStyle/>
          <a:p>
            <a:pPr algn="ctr">
              <a:spcBef>
                <a:spcPts val="0"/>
              </a:spcBef>
              <a:spcAft>
                <a:spcPts val="0"/>
              </a:spcAft>
            </a:pPr>
            <a:r>
              <a:rPr lang="en-US" sz="900" kern="1200" spc="100" baseline="0" dirty="0">
                <a:solidFill>
                  <a:srgbClr val="CDCDCD"/>
                </a:solidFill>
                <a:effectLst/>
              </a:rPr>
              <a:t>— NOT FOR EXTERNAL DISTRIBUTION —</a:t>
            </a:r>
            <a:endParaRPr lang="en-US" sz="900" spc="100" baseline="0" dirty="0">
              <a:solidFill>
                <a:srgbClr val="CDCDCD"/>
              </a:solidFill>
            </a:endParaRPr>
          </a:p>
        </p:txBody>
      </p:sp>
      <p:sp>
        <p:nvSpPr>
          <p:cNvPr id="14" name="Text Box 86"/>
          <p:cNvSpPr txBox="1">
            <a:spLocks noChangeArrowheads="1"/>
          </p:cNvSpPr>
          <p:nvPr/>
        </p:nvSpPr>
        <p:spPr bwMode="gray">
          <a:xfrm>
            <a:off x="242373" y="128260"/>
            <a:ext cx="6326067" cy="258458"/>
          </a:xfrm>
          <a:prstGeom prst="rect">
            <a:avLst/>
          </a:prstGeom>
          <a:noFill/>
          <a:ln w="12700">
            <a:noFill/>
            <a:miter lim="800000"/>
            <a:headEnd type="none" w="sm" len="sm"/>
            <a:tailEnd type="none" w="sm" len="sm"/>
          </a:ln>
          <a:effectLst/>
        </p:spPr>
        <p:txBody>
          <a:bodyPr wrap="square" lIns="0" tIns="45683" rIns="91366" bIns="45683" anchor="t" anchorCtr="0">
            <a:spAutoFit/>
          </a:bodyPr>
          <a:lstStyle/>
          <a:p>
            <a:pPr marL="0" marR="0" lvl="0" indent="0" algn="l" defTabSz="912813" rtl="0" eaLnBrk="1" fontAlgn="auto" latinLnBrk="0" hangingPunct="1">
              <a:lnSpc>
                <a:spcPct val="90000"/>
              </a:lnSpc>
              <a:spcBef>
                <a:spcPct val="0"/>
              </a:spcBef>
              <a:spcAft>
                <a:spcPct val="0"/>
              </a:spcAft>
              <a:buClrTx/>
              <a:buSzTx/>
              <a:buFontTx/>
              <a:buNone/>
              <a:tabLst/>
              <a:defRPr/>
            </a:pPr>
            <a:r>
              <a:rPr lang="en-US" sz="1200" b="1" dirty="0"/>
              <a:t>Presentation Title</a:t>
            </a:r>
          </a:p>
        </p:txBody>
      </p:sp>
      <p:sp>
        <p:nvSpPr>
          <p:cNvPr id="8" name="TextBox 7"/>
          <p:cNvSpPr txBox="1"/>
          <p:nvPr/>
        </p:nvSpPr>
        <p:spPr>
          <a:xfrm>
            <a:off x="242372" y="8887703"/>
            <a:ext cx="6373258" cy="184666"/>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1CE9EA8B-DBE7-492B-893F-AD13AC039ED7}" type="slidenum">
              <a:rPr lang="en-US" sz="600" smtClean="0">
                <a:solidFill>
                  <a:srgbClr val="6E7878"/>
                </a:solidFill>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600" dirty="0">
                <a:solidFill>
                  <a:srgbClr val="6E7878"/>
                </a:solidFill>
              </a:rPr>
              <a:t>	© 2019 Gartner, Inc. and/or its affiliates. All rights reserved. Gartner is a registered trademark of Gartner, Inc. or its affiliates.</a:t>
            </a:r>
            <a:br>
              <a:rPr lang="en-US" sz="600" dirty="0">
                <a:solidFill>
                  <a:srgbClr val="6E7878"/>
                </a:solidFill>
              </a:rPr>
            </a:br>
            <a:r>
              <a:rPr lang="en-US" sz="600" b="1" dirty="0">
                <a:solidFill>
                  <a:srgbClr val="6E7878"/>
                </a:solidFill>
              </a:rPr>
              <a:t>INTERNAL — FOR INTERNAL USE ONLY or RESTRICTED [CHOOSE ONE – DELETE AS APPROPRIATE] </a:t>
            </a:r>
            <a:r>
              <a:rPr lang="en-US" sz="600" b="0" baseline="0" dirty="0">
                <a:solidFill>
                  <a:srgbClr val="6E7878"/>
                </a:solidFill>
              </a:rPr>
              <a:t>| </a:t>
            </a:r>
            <a:r>
              <a:rPr lang="en-US" sz="600" dirty="0">
                <a:solidFill>
                  <a:srgbClr val="6E7878"/>
                </a:solidFill>
              </a:rPr>
              <a:t>Version X.X  Last updated [insert date format: DD Month YYYY]</a:t>
            </a:r>
          </a:p>
        </p:txBody>
      </p:sp>
    </p:spTree>
    <p:extLst>
      <p:ext uri="{BB962C8B-B14F-4D97-AF65-F5344CB8AC3E}">
        <p14:creationId xmlns:p14="http://schemas.microsoft.com/office/powerpoint/2010/main" val="1265795583"/>
      </p:ext>
    </p:extLst>
  </p:cSld>
  <p:clrMap bg1="lt1" tx1="dk1" bg2="lt2" tx2="dk2" accent1="accent1" accent2="accent2" accent3="accent3" accent4="accent4" accent5="accent5" accent6="accent6" hlink="hlink" folHlink="folHlink"/>
  <p:hf sldNum="0" hdr="0" ftr="0" dt="0"/>
  <p:notesStyle>
    <a:lvl1pPr marL="0" indent="0" algn="l" defTabSz="914400" rtl="0" eaLnBrk="1" latinLnBrk="0" hangingPunct="1">
      <a:lnSpc>
        <a:spcPct val="90000"/>
      </a:lnSpc>
      <a:spcAft>
        <a:spcPts val="600"/>
      </a:spcAft>
      <a:buFont typeface="Arial" panose="020B0604020202020204" pitchFamily="34" charset="0"/>
      <a:buNone/>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Wingdings" panose="05000000000000000000" pitchFamily="2" charset="2"/>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Wingdings" panose="05000000000000000000" pitchFamily="2" charset="2"/>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dirty="0"/>
              <a:t>Ver 2023-1113</a:t>
            </a:r>
          </a:p>
          <a:p>
            <a:endParaRPr lang="en-US" dirty="0"/>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655411"/>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dirty="0">
                <a:solidFill>
                  <a:srgbClr val="000000"/>
                </a:solidFill>
              </a:rPr>
              <a:t>Presenter's Name</a:t>
            </a:r>
          </a:p>
          <a:p>
            <a:pPr algn="l" defTabSz="947738">
              <a:lnSpc>
                <a:spcPct val="100000"/>
              </a:lnSpc>
              <a:spcBef>
                <a:spcPct val="0"/>
              </a:spcBef>
              <a:spcAft>
                <a:spcPct val="0"/>
              </a:spcAft>
            </a:pPr>
            <a:r>
              <a:rPr lang="en-US" sz="1200" dirty="0">
                <a:solidFill>
                  <a:srgbClr val="000000"/>
                </a:solidFill>
              </a:rPr>
              <a:t>Presenter's Name</a:t>
            </a:r>
          </a:p>
        </p:txBody>
      </p:sp>
      <p:sp>
        <p:nvSpPr>
          <p:cNvPr id="5" name="Slide Image Placeholder 4">
            <a:extLst>
              <a:ext uri="{FF2B5EF4-FFF2-40B4-BE49-F238E27FC236}">
                <a16:creationId xmlns:a16="http://schemas.microsoft.com/office/drawing/2014/main" id="{A0FBC888-E3B9-21DA-1DAA-05258B7AE3FC}"/>
              </a:ext>
            </a:extLst>
          </p:cNvPr>
          <p:cNvSpPr>
            <a:spLocks noGrp="1" noRot="1" noChangeAspect="1"/>
          </p:cNvSpPr>
          <p:nvPr>
            <p:ph type="sldImg"/>
          </p:nvPr>
        </p:nvSpPr>
        <p:spPr>
          <a:xfrm>
            <a:off x="1803400" y="658813"/>
            <a:ext cx="3251200" cy="2357437"/>
          </a:xfrm>
        </p:spPr>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46200" y="1247775"/>
            <a:ext cx="4445000" cy="322262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3408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208316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2339512"/>
            <a:ext cx="4544568" cy="2568800"/>
          </a:xfrm>
        </p:spPr>
        <p:txBody>
          <a:bodyPr anchor="ctr" anchorCtr="0">
            <a:noAutofit/>
          </a:bodyPr>
          <a:lstStyle>
            <a:lvl1pPr algn="l">
              <a:defRPr sz="3479"/>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5061500"/>
            <a:ext cx="4544568" cy="267718"/>
          </a:xfrm>
        </p:spPr>
        <p:txBody>
          <a:bodyPr>
            <a:spAutoFit/>
          </a:bodyPr>
          <a:lstStyle>
            <a:lvl1pPr marL="0" marR="0" indent="0" algn="l" defTabSz="883778" rtl="0" eaLnBrk="1" fontAlgn="auto" latinLnBrk="0" hangingPunct="1">
              <a:lnSpc>
                <a:spcPct val="100000"/>
              </a:lnSpc>
              <a:spcBef>
                <a:spcPts val="0"/>
              </a:spcBef>
              <a:spcAft>
                <a:spcPts val="0"/>
              </a:spcAft>
              <a:buClrTx/>
              <a:buSzPct val="100000"/>
              <a:buFont typeface="Arial" panose="020B0604020202020204" pitchFamily="34" charset="0"/>
              <a:buNone/>
              <a:tabLst/>
              <a:defRPr sz="1740"/>
            </a:lvl1pPr>
            <a:lvl2pPr marL="441890" indent="0" algn="ctr">
              <a:buNone/>
              <a:defRPr sz="1933"/>
            </a:lvl2pPr>
            <a:lvl3pPr marL="883778" indent="0" algn="ctr">
              <a:buNone/>
              <a:defRPr sz="1740"/>
            </a:lvl3pPr>
            <a:lvl4pPr marL="1325668" indent="0" algn="ctr">
              <a:buNone/>
              <a:defRPr sz="1546"/>
            </a:lvl4pPr>
            <a:lvl5pPr marL="1767557" indent="0" algn="ctr">
              <a:buNone/>
              <a:defRPr sz="1546"/>
            </a:lvl5pPr>
            <a:lvl6pPr marL="2209447" indent="0" algn="ctr">
              <a:buNone/>
              <a:defRPr sz="1546"/>
            </a:lvl6pPr>
            <a:lvl7pPr marL="2651336" indent="0" algn="ctr">
              <a:buNone/>
              <a:defRPr sz="1546"/>
            </a:lvl7pPr>
            <a:lvl8pPr marL="3093225" indent="0" algn="ctr">
              <a:buNone/>
              <a:defRPr sz="1546"/>
            </a:lvl8pPr>
            <a:lvl9pPr marL="3535115" indent="0" algn="ctr">
              <a:buNone/>
              <a:defRPr sz="1546"/>
            </a:lvl9pPr>
          </a:lstStyle>
          <a:p>
            <a:r>
              <a:rPr lang="en-US" dirty="0"/>
              <a:t>Click to add 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8093316"/>
            <a:ext cx="7095744" cy="312337"/>
          </a:xfrm>
          <a:prstGeom prst="rect">
            <a:avLst/>
          </a:prstGeom>
          <a:noFill/>
        </p:spPr>
        <p:txBody>
          <a:bodyPr wrap="square" lIns="0" tIns="0" rIns="0" bIns="0" rtlCol="0" anchor="b" anchorCtr="0">
            <a:spAutoFit/>
          </a:bodyPr>
          <a:lstStyle/>
          <a:p>
            <a:r>
              <a:rPr lang="en-US" sz="677" dirty="0"/>
              <a:t>© 2025 Gartner, Inc. and/or its affiliates. All rights reserved. Gartner is a registered trademark of Gartner, Inc. or its affiliates. This presentation, including all supporting materials, </a:t>
            </a:r>
            <a:br>
              <a:rPr lang="en-US" sz="677" dirty="0"/>
            </a:br>
            <a:r>
              <a:rPr lang="en-US" sz="677"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732172"/>
            <a:ext cx="164592" cy="424205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1740"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732172"/>
            <a:ext cx="164592" cy="424205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1740" dirty="0"/>
          </a:p>
        </p:txBody>
      </p:sp>
      <p:pic>
        <p:nvPicPr>
          <p:cNvPr id="27" name="Picture 26">
            <a:extLst>
              <a:ext uri="{FF2B5EF4-FFF2-40B4-BE49-F238E27FC236}">
                <a16:creationId xmlns:a16="http://schemas.microsoft.com/office/drawing/2014/main" id="{E77AE7DB-FD48-4294-BD87-EA8DA4C9EC3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9243249" y="7804567"/>
            <a:ext cx="2540056" cy="558756"/>
          </a:xfrm>
          <a:prstGeom prst="rect">
            <a:avLst/>
          </a:prstGeom>
        </p:spPr>
      </p:pic>
    </p:spTree>
    <p:extLst>
      <p:ext uri="{BB962C8B-B14F-4D97-AF65-F5344CB8AC3E}">
        <p14:creationId xmlns:p14="http://schemas.microsoft.com/office/powerpoint/2010/main" val="11177675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a14="http://schemas.microsoft.com/office/drawing/2010/main" xmlns:a16="http://schemas.microsoft.com/office/drawing/2014/main"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472569"/>
            <a:ext cx="11276013" cy="571130"/>
          </a:xfrm>
          <a:prstGeom prst="rect">
            <a:avLst/>
          </a:prstGeom>
        </p:spPr>
        <p:txBody>
          <a:bodyPr vert="horz" wrap="square" lIns="0" tIns="0" rIns="0" bIns="0" rtlCol="0" anchor="t" anchorCtr="0">
            <a:noAutofit/>
          </a:bodyPr>
          <a:lstStyle/>
          <a:p>
            <a:r>
              <a:rPr lang="en-US" dirty="0"/>
              <a:t>Click to edit title</a:t>
            </a:r>
          </a:p>
        </p:txBody>
      </p:sp>
      <p:sp>
        <p:nvSpPr>
          <p:cNvPr id="3" name="Text Placeholder 2"/>
          <p:cNvSpPr>
            <a:spLocks noGrp="1"/>
          </p:cNvSpPr>
          <p:nvPr>
            <p:ph type="body" idx="1"/>
          </p:nvPr>
        </p:nvSpPr>
        <p:spPr>
          <a:xfrm>
            <a:off x="457201" y="1968006"/>
            <a:ext cx="11276013" cy="5748538"/>
          </a:xfrm>
          <a:prstGeom prst="rect">
            <a:avLst/>
          </a:prstGeom>
        </p:spPr>
        <p:txBody>
          <a:bodyPr vert="horz" lIns="0" tIns="0" rIns="0" bIns="0" rtlCol="0">
            <a:noAutofit/>
          </a:body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Gartner Logo"/>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0187189" y="8043101"/>
            <a:ext cx="1546025" cy="377384"/>
          </a:xfrm>
          <a:prstGeom prst="rect">
            <a:avLst/>
          </a:prstGeom>
        </p:spPr>
      </p:pic>
      <p:sp>
        <p:nvSpPr>
          <p:cNvPr id="15" name="Original Legal Copy" hidden="1"/>
          <p:cNvSpPr txBox="1"/>
          <p:nvPr userDrawn="1"/>
        </p:nvSpPr>
        <p:spPr>
          <a:xfrm>
            <a:off x="457200" y="8226316"/>
            <a:ext cx="7869115" cy="215444"/>
          </a:xfrm>
          <a:prstGeom prst="rect">
            <a:avLst/>
          </a:prstGeom>
          <a:noFill/>
        </p:spPr>
        <p:txBody>
          <a:bodyPr wrap="square" lIns="0" tIns="0" rIns="0" bIns="0" rtlCol="0" anchor="b" anchorCtr="0">
            <a:spAutoFit/>
          </a:bodyPr>
          <a:lstStyle/>
          <a:p>
            <a:pPr marL="228600" indent="-228600" algn="l">
              <a:tabLst>
                <a:tab pos="228600" algn="l"/>
              </a:tabLst>
            </a:pPr>
            <a:fld id="{1CE9EA8B-DBE7-492B-893F-AD13AC039ED7}" type="slidenum">
              <a:rPr lang="en-US" sz="700" smtClean="0">
                <a:solidFill>
                  <a:srgbClr val="6E7878"/>
                </a:solidFill>
              </a:rPr>
              <a:pPr marL="228600" indent="-228600" algn="l">
                <a:tabLst>
                  <a:tab pos="228600" algn="l"/>
                </a:tabLst>
              </a:pPr>
              <a:t>‹#›</a:t>
            </a:fld>
            <a:r>
              <a:rPr lang="en-US" sz="700" dirty="0">
                <a:solidFill>
                  <a:srgbClr val="6E7878"/>
                </a:solidFill>
              </a:rPr>
              <a:t>	© 2019 Gartner, Inc. and/or its affiliates. All rights reserved. Gartner is a registered trademark of Gartner, Inc. or its affiliates. Version 8.2  Last updated 29 June 2019</a:t>
            </a:r>
          </a:p>
          <a:p>
            <a:pPr algn="l">
              <a:tabLst>
                <a:tab pos="228600" algn="l"/>
              </a:tabLst>
            </a:pPr>
            <a:r>
              <a:rPr lang="en-US" sz="700" dirty="0">
                <a:solidFill>
                  <a:srgbClr val="6E7878"/>
                </a:solidFill>
              </a:rPr>
              <a:t>	</a:t>
            </a:r>
            <a:r>
              <a:rPr lang="en-US" sz="700" b="1" dirty="0">
                <a:solidFill>
                  <a:srgbClr val="6E7878"/>
                </a:solidFill>
              </a:rPr>
              <a:t>INTERNAL — FOR INTERNAL USE ONLY</a:t>
            </a:r>
          </a:p>
        </p:txBody>
      </p:sp>
      <p:sp>
        <p:nvSpPr>
          <p:cNvPr id="10" name="TextBox 9"/>
          <p:cNvSpPr txBox="1"/>
          <p:nvPr userDrawn="1"/>
        </p:nvSpPr>
        <p:spPr>
          <a:xfrm>
            <a:off x="457202" y="8282963"/>
            <a:ext cx="7306732" cy="153888"/>
          </a:xfrm>
          <a:prstGeom prst="rect">
            <a:avLst/>
          </a:prstGeom>
          <a:noFill/>
        </p:spPr>
        <p:txBody>
          <a:bodyPr wrap="square" lIns="0" tIns="0" rIns="0" bIns="0" rtlCol="0" anchor="b" anchorCtr="0">
            <a:spAutoFit/>
          </a:bodyPr>
          <a:lstStyle/>
          <a:p>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fld id="{C8715055-8345-8347-8008-CD9D51621ED9}" type="slidenum">
              <a:rPr lang="en-US" sz="1000" smtClean="0">
                <a:solidFill>
                  <a:schemeClr val="tx1"/>
                </a:solidFill>
              </a:rPr>
              <a:pPr marL="228600" marR="0" lvl="0" indent="-228600" algn="l" defTabSz="914400" rtl="0" eaLnBrk="1" fontAlgn="auto" latinLnBrk="0" hangingPunct="1">
                <a:lnSpc>
                  <a:spcPct val="100000"/>
                </a:lnSpc>
                <a:spcBef>
                  <a:spcPts val="0"/>
                </a:spcBef>
                <a:spcAft>
                  <a:spcPts val="0"/>
                </a:spcAft>
                <a:buClrTx/>
                <a:buSzTx/>
                <a:buFontTx/>
                <a:buNone/>
                <a:tabLst>
                  <a:tab pos="228600" algn="l"/>
                </a:tabLst>
                <a:defRPr/>
              </a:pPr>
              <a:t>‹#›</a:t>
            </a:fld>
            <a:r>
              <a:rPr lang="en-US" sz="700" dirty="0">
                <a:solidFill>
                  <a:schemeClr val="tx1"/>
                </a:solidFill>
              </a:rPr>
              <a:t>	© 2025 Gartner, Inc. and/or its affiliates. All rights reserved.</a:t>
            </a:r>
          </a:p>
        </p:txBody>
      </p:sp>
    </p:spTree>
    <p:extLst>
      <p:ext uri="{BB962C8B-B14F-4D97-AF65-F5344CB8AC3E}">
        <p14:creationId xmlns:p14="http://schemas.microsoft.com/office/powerpoint/2010/main" val="3362298311"/>
      </p:ext>
    </p:extLst>
  </p:cSld>
  <p:clrMap bg1="lt1" tx1="dk1" bg2="lt2" tx2="dk2" accent1="accent1" accent2="accent2" accent3="accent3" accent4="accent4" accent5="accent5" accent6="accent6" hlink="hlink" folHlink="folHlink"/>
  <p:sldLayoutIdLst>
    <p:sldLayoutId id="2147483750" r:id="rId1"/>
    <p:sldLayoutId id="2147483751" r:id="rId2"/>
  </p:sldLayoutIdLst>
  <p:hf sldNum="0" hdr="0" ftr="0" dt="0"/>
  <p:txStyles>
    <p:title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Tx/>
        <a:buSzPct val="100000"/>
        <a:buFont typeface="Arial" panose="020B0604020202020204" pitchFamily="34" charset="0"/>
        <a:buChar char="•"/>
        <a:defRPr sz="2400" kern="1200">
          <a:solidFill>
            <a:schemeClr val="tx1"/>
          </a:solidFill>
          <a:latin typeface="+mn-lt"/>
          <a:ea typeface="+mn-ea"/>
          <a:cs typeface="+mn-cs"/>
        </a:defRPr>
      </a:lvl1pPr>
      <a:lvl2pPr marL="54864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2pPr>
      <a:lvl3pPr marL="777240" indent="-228600" algn="l" defTabSz="914400" rtl="0" eaLnBrk="1" latinLnBrk="0" hangingPunct="1">
        <a:lnSpc>
          <a:spcPct val="100000"/>
        </a:lnSpc>
        <a:spcBef>
          <a:spcPts val="0"/>
        </a:spcBef>
        <a:spcAft>
          <a:spcPts val="1200"/>
        </a:spcAft>
        <a:buSzPct val="100000"/>
        <a:buFont typeface="Arial" panose="020B0604020202020204" pitchFamily="34" charset="0"/>
        <a:buChar char="•"/>
        <a:defRPr sz="2400" kern="1200">
          <a:solidFill>
            <a:schemeClr val="tx1"/>
          </a:solidFill>
          <a:latin typeface="+mn-lt"/>
          <a:ea typeface="+mn-ea"/>
          <a:cs typeface="+mn-cs"/>
        </a:defRPr>
      </a:lvl3pPr>
      <a:lvl4pPr marL="1051560" indent="-228600" algn="l" defTabSz="914400" rtl="0" eaLnBrk="1" latinLnBrk="0" hangingPunct="1">
        <a:lnSpc>
          <a:spcPct val="100000"/>
        </a:lnSpc>
        <a:spcBef>
          <a:spcPts val="0"/>
        </a:spcBef>
        <a:spcAft>
          <a:spcPts val="1200"/>
        </a:spcAft>
        <a:buSzPct val="90000"/>
        <a:buFont typeface="Arial" panose="020B0604020202020204" pitchFamily="34" charset="0"/>
        <a:buChar char="–"/>
        <a:defRPr sz="24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1200"/>
        </a:spcAft>
        <a:buSzPct val="100000"/>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3" pos="288" userDrawn="1">
          <p15:clr>
            <a:srgbClr val="5ACBF0"/>
          </p15:clr>
        </p15:guide>
        <p15:guide id="4" orient="horz" pos="2784" userDrawn="1">
          <p15:clr>
            <a:srgbClr val="A4A3A4"/>
          </p15:clr>
        </p15:guide>
        <p15:guide id="5" orient="horz" pos="297" userDrawn="1">
          <p15:clr>
            <a:srgbClr val="5ACBF0"/>
          </p15:clr>
        </p15:guide>
        <p15:guide id="6" pos="7391" userDrawn="1">
          <p15:clr>
            <a:srgbClr val="5ACBF0"/>
          </p15:clr>
        </p15:guide>
        <p15:guide id="7" orient="horz" pos="4861" userDrawn="1">
          <p15:clr>
            <a:srgbClr val="FBAE40"/>
          </p15:clr>
        </p15:guide>
        <p15:guide id="9" orient="horz" pos="5296" userDrawn="1">
          <p15:clr>
            <a:srgbClr val="5ACBF0"/>
          </p15:clr>
        </p15:guide>
        <p15:guide id="10" orient="horz" pos="692" userDrawn="1">
          <p15:clr>
            <a:srgbClr val="FDE53C"/>
          </p15:clr>
        </p15:guide>
        <p15:guide id="11" orient="horz" pos="1090" userDrawn="1">
          <p15:clr>
            <a:srgbClr val="FDE53C"/>
          </p15:clr>
        </p15:guide>
        <p15:guide id="12" orient="horz" pos="1240" userDrawn="1">
          <p15:clr>
            <a:srgbClr val="5ACBF0"/>
          </p15:clr>
        </p15:guide>
        <p15:guide id="13" orient="horz" pos="5157" userDrawn="1">
          <p15:clr>
            <a:srgbClr val="5ACBF0"/>
          </p15:clr>
        </p15:guide>
        <p15:guide id="14" pos="3752" userDrawn="1">
          <p15:clr>
            <a:srgbClr val="5ACBF0"/>
          </p15:clr>
        </p15:guide>
        <p15:guide id="15" pos="3927"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21" Type="http://schemas.openxmlformats.org/officeDocument/2006/relationships/image" Target="../media/image20.png"/><Relationship Id="rId34" Type="http://schemas.openxmlformats.org/officeDocument/2006/relationships/image" Target="../media/image33.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png"/><Relationship Id="rId33" Type="http://schemas.openxmlformats.org/officeDocument/2006/relationships/image" Target="../media/image32.png"/><Relationship Id="rId2" Type="http://schemas.openxmlformats.org/officeDocument/2006/relationships/slideLayout" Target="../slideLayouts/slideLayout1.xml"/><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tags" Target="../tags/tag1.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sv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3E7B705-E8FD-4837-9D53-2B873FFB1A35}"/>
              </a:ext>
            </a:extLst>
          </p:cNvPr>
          <p:cNvSpPr>
            <a:spLocks noGrp="1"/>
          </p:cNvSpPr>
          <p:nvPr>
            <p:ph type="ctrTitle"/>
          </p:nvPr>
        </p:nvSpPr>
        <p:spPr>
          <a:xfrm>
            <a:off x="2239396" y="2063337"/>
            <a:ext cx="4505788" cy="2568799"/>
          </a:xfrm>
        </p:spPr>
        <p:txBody>
          <a:bodyPr/>
          <a:lstStyle/>
          <a:p>
            <a:r>
              <a:rPr lang="en-US" sz="3400" dirty="0"/>
              <a:t>Reference Architecture Brief: Composable APIs, Services and Applications</a:t>
            </a:r>
          </a:p>
        </p:txBody>
      </p:sp>
      <p:sp>
        <p:nvSpPr>
          <p:cNvPr id="4" name="Content Placeholder">
            <a:extLst>
              <a:ext uri="{FF2B5EF4-FFF2-40B4-BE49-F238E27FC236}">
                <a16:creationId xmlns:a16="http://schemas.microsoft.com/office/drawing/2014/main" id="{384D9FD3-3D06-485C-A3C3-7E731EBD7E2D}"/>
              </a:ext>
            </a:extLst>
          </p:cNvPr>
          <p:cNvSpPr>
            <a:spLocks noGrp="1"/>
          </p:cNvSpPr>
          <p:nvPr>
            <p:ph type="subTitle" idx="1"/>
          </p:nvPr>
        </p:nvSpPr>
        <p:spPr>
          <a:xfrm>
            <a:off x="2239396" y="4900825"/>
            <a:ext cx="4392293" cy="356957"/>
          </a:xfrm>
        </p:spPr>
        <p:txBody>
          <a:bodyPr/>
          <a:lstStyle/>
          <a:p>
            <a:r>
              <a:rPr lang="en-US" sz="2320" dirty="0"/>
              <a:t>Editable Figures </a:t>
            </a:r>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F1FE74A-4490-3D41-B97D-39791C80F78B}"/>
              </a:ext>
            </a:extLst>
          </p:cNvPr>
          <p:cNvSpPr txBox="1"/>
          <p:nvPr/>
        </p:nvSpPr>
        <p:spPr bwMode="gray">
          <a:xfrm>
            <a:off x="438150" y="471488"/>
            <a:ext cx="10613419" cy="276999"/>
          </a:xfrm>
          <a:prstGeom prst="rect">
            <a:avLst/>
          </a:prstGeom>
          <a:noFill/>
        </p:spPr>
        <p:txBody>
          <a:bodyPr wrap="square" lIns="0" tIns="0" rIns="0" bIns="0" rtlCol="0">
            <a:spAutoFit/>
          </a:bodyPr>
          <a:lstStyle/>
          <a:p>
            <a:pPr>
              <a:spcAft>
                <a:spcPts val="600"/>
              </a:spcAft>
            </a:pPr>
            <a:r>
              <a:rPr lang="en-US" b="1" dirty="0"/>
              <a:t>Composable APIs, Apps and Services Reference Architecture</a:t>
            </a:r>
            <a:endParaRPr lang="en-US" dirty="0"/>
          </a:p>
        </p:txBody>
      </p:sp>
      <p:sp>
        <p:nvSpPr>
          <p:cNvPr id="160" name="TextBox 159">
            <a:extLst>
              <a:ext uri="{FF2B5EF4-FFF2-40B4-BE49-F238E27FC236}">
                <a16:creationId xmlns:a16="http://schemas.microsoft.com/office/drawing/2014/main" id="{0BC47E79-85A5-294B-8A22-2E30A258AB22}"/>
              </a:ext>
            </a:extLst>
          </p:cNvPr>
          <p:cNvSpPr txBox="1"/>
          <p:nvPr/>
        </p:nvSpPr>
        <p:spPr bwMode="gray">
          <a:xfrm>
            <a:off x="438150" y="1755855"/>
            <a:ext cx="989053" cy="169277"/>
          </a:xfrm>
          <a:prstGeom prst="rect">
            <a:avLst/>
          </a:prstGeom>
          <a:noFill/>
        </p:spPr>
        <p:txBody>
          <a:bodyPr wrap="none" lIns="0" tIns="0" rIns="0" bIns="0" rtlCol="0">
            <a:spAutoFit/>
          </a:bodyPr>
          <a:lstStyle/>
          <a:p>
            <a:pPr algn="l"/>
            <a:r>
              <a:rPr lang="en-US" sz="1100" b="1" dirty="0"/>
              <a:t>User personas</a:t>
            </a:r>
          </a:p>
        </p:txBody>
      </p:sp>
      <p:pic>
        <p:nvPicPr>
          <p:cNvPr id="222" name="Graphic 221">
            <a:extLst>
              <a:ext uri="{FF2B5EF4-FFF2-40B4-BE49-F238E27FC236}">
                <a16:creationId xmlns:a16="http://schemas.microsoft.com/office/drawing/2014/main" id="{7B2AD917-C4F9-0E48-8212-1ADB1B32C8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3821152" y="2074109"/>
            <a:ext cx="340941" cy="265176"/>
          </a:xfrm>
          <a:prstGeom prst="rect">
            <a:avLst/>
          </a:prstGeom>
        </p:spPr>
      </p:pic>
      <p:pic>
        <p:nvPicPr>
          <p:cNvPr id="224" name="Graphic 223">
            <a:extLst>
              <a:ext uri="{FF2B5EF4-FFF2-40B4-BE49-F238E27FC236}">
                <a16:creationId xmlns:a16="http://schemas.microsoft.com/office/drawing/2014/main" id="{4777CCB8-236D-664E-AAF3-B92C61C2A43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bwMode="gray">
          <a:xfrm>
            <a:off x="2173070" y="2100856"/>
            <a:ext cx="338328" cy="263144"/>
          </a:xfrm>
          <a:prstGeom prst="rect">
            <a:avLst/>
          </a:prstGeom>
        </p:spPr>
      </p:pic>
      <p:pic>
        <p:nvPicPr>
          <p:cNvPr id="226" name="Graphic 225">
            <a:extLst>
              <a:ext uri="{FF2B5EF4-FFF2-40B4-BE49-F238E27FC236}">
                <a16:creationId xmlns:a16="http://schemas.microsoft.com/office/drawing/2014/main" id="{5284E5A7-A1F6-0C47-B16A-FF770830BAA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bwMode="gray">
          <a:xfrm>
            <a:off x="3213250" y="2083488"/>
            <a:ext cx="342900" cy="266700"/>
          </a:xfrm>
          <a:prstGeom prst="rect">
            <a:avLst/>
          </a:prstGeom>
        </p:spPr>
      </p:pic>
      <p:sp>
        <p:nvSpPr>
          <p:cNvPr id="510" name="Freeform: Shape 18">
            <a:extLst>
              <a:ext uri="{FF2B5EF4-FFF2-40B4-BE49-F238E27FC236}">
                <a16:creationId xmlns:a16="http://schemas.microsoft.com/office/drawing/2014/main" id="{888E9EF6-3643-094B-802F-A7FDEF04C592}"/>
              </a:ext>
            </a:extLst>
          </p:cNvPr>
          <p:cNvSpPr/>
          <p:nvPr/>
        </p:nvSpPr>
        <p:spPr bwMode="gray">
          <a:xfrm>
            <a:off x="4351587" y="2071260"/>
            <a:ext cx="199144" cy="263981"/>
          </a:xfrm>
          <a:custGeom>
            <a:avLst/>
            <a:gdLst>
              <a:gd name="connsiteX0" fmla="*/ 208788 w 409575"/>
              <a:gd name="connsiteY0" fmla="*/ 388144 h 542925"/>
              <a:gd name="connsiteX1" fmla="*/ 208788 w 409575"/>
              <a:gd name="connsiteY1" fmla="*/ 388144 h 542925"/>
              <a:gd name="connsiteX2" fmla="*/ 330994 w 409575"/>
              <a:gd name="connsiteY2" fmla="*/ 265938 h 542925"/>
              <a:gd name="connsiteX3" fmla="*/ 330994 w 409575"/>
              <a:gd name="connsiteY3" fmla="*/ 254794 h 542925"/>
              <a:gd name="connsiteX4" fmla="*/ 330994 w 409575"/>
              <a:gd name="connsiteY4" fmla="*/ 140494 h 542925"/>
              <a:gd name="connsiteX5" fmla="*/ 330994 w 409575"/>
              <a:gd name="connsiteY5" fmla="*/ 129350 h 542925"/>
              <a:gd name="connsiteX6" fmla="*/ 208788 w 409575"/>
              <a:gd name="connsiteY6" fmla="*/ 7144 h 542925"/>
              <a:gd name="connsiteX7" fmla="*/ 208788 w 409575"/>
              <a:gd name="connsiteY7" fmla="*/ 7144 h 542925"/>
              <a:gd name="connsiteX8" fmla="*/ 86583 w 409575"/>
              <a:gd name="connsiteY8" fmla="*/ 129350 h 542925"/>
              <a:gd name="connsiteX9" fmla="*/ 86583 w 409575"/>
              <a:gd name="connsiteY9" fmla="*/ 140494 h 542925"/>
              <a:gd name="connsiteX10" fmla="*/ 86583 w 409575"/>
              <a:gd name="connsiteY10" fmla="*/ 254794 h 542925"/>
              <a:gd name="connsiteX11" fmla="*/ 86583 w 409575"/>
              <a:gd name="connsiteY11" fmla="*/ 265938 h 542925"/>
              <a:gd name="connsiteX12" fmla="*/ 208788 w 409575"/>
              <a:gd name="connsiteY12" fmla="*/ 388144 h 542925"/>
              <a:gd name="connsiteX13" fmla="*/ 124587 w 409575"/>
              <a:gd name="connsiteY13" fmla="*/ 216694 h 542925"/>
              <a:gd name="connsiteX14" fmla="*/ 124587 w 409575"/>
              <a:gd name="connsiteY14" fmla="*/ 178594 h 542925"/>
              <a:gd name="connsiteX15" fmla="*/ 169069 w 409575"/>
              <a:gd name="connsiteY15" fmla="*/ 178594 h 542925"/>
              <a:gd name="connsiteX16" fmla="*/ 169069 w 409575"/>
              <a:gd name="connsiteY16" fmla="*/ 140494 h 542925"/>
              <a:gd name="connsiteX17" fmla="*/ 124587 w 409575"/>
              <a:gd name="connsiteY17" fmla="*/ 140494 h 542925"/>
              <a:gd name="connsiteX18" fmla="*/ 124587 w 409575"/>
              <a:gd name="connsiteY18" fmla="*/ 129350 h 542925"/>
              <a:gd name="connsiteX19" fmla="*/ 208693 w 409575"/>
              <a:gd name="connsiteY19" fmla="*/ 45244 h 542925"/>
              <a:gd name="connsiteX20" fmla="*/ 292894 w 409575"/>
              <a:gd name="connsiteY20" fmla="*/ 129350 h 542925"/>
              <a:gd name="connsiteX21" fmla="*/ 292894 w 409575"/>
              <a:gd name="connsiteY21" fmla="*/ 140494 h 542925"/>
              <a:gd name="connsiteX22" fmla="*/ 245269 w 409575"/>
              <a:gd name="connsiteY22" fmla="*/ 140494 h 542925"/>
              <a:gd name="connsiteX23" fmla="*/ 245269 w 409575"/>
              <a:gd name="connsiteY23" fmla="*/ 178594 h 542925"/>
              <a:gd name="connsiteX24" fmla="*/ 292894 w 409575"/>
              <a:gd name="connsiteY24" fmla="*/ 178594 h 542925"/>
              <a:gd name="connsiteX25" fmla="*/ 292894 w 409575"/>
              <a:gd name="connsiteY25" fmla="*/ 216694 h 542925"/>
              <a:gd name="connsiteX26" fmla="*/ 245269 w 409575"/>
              <a:gd name="connsiteY26" fmla="*/ 216694 h 542925"/>
              <a:gd name="connsiteX27" fmla="*/ 245269 w 409575"/>
              <a:gd name="connsiteY27" fmla="*/ 254794 h 542925"/>
              <a:gd name="connsiteX28" fmla="*/ 292894 w 409575"/>
              <a:gd name="connsiteY28" fmla="*/ 254794 h 542925"/>
              <a:gd name="connsiteX29" fmla="*/ 292894 w 409575"/>
              <a:gd name="connsiteY29" fmla="*/ 265938 h 542925"/>
              <a:gd name="connsiteX30" fmla="*/ 208788 w 409575"/>
              <a:gd name="connsiteY30" fmla="*/ 350044 h 542925"/>
              <a:gd name="connsiteX31" fmla="*/ 124683 w 409575"/>
              <a:gd name="connsiteY31" fmla="*/ 265938 h 542925"/>
              <a:gd name="connsiteX32" fmla="*/ 124683 w 409575"/>
              <a:gd name="connsiteY32" fmla="*/ 254794 h 542925"/>
              <a:gd name="connsiteX33" fmla="*/ 169069 w 409575"/>
              <a:gd name="connsiteY33" fmla="*/ 254794 h 542925"/>
              <a:gd name="connsiteX34" fmla="*/ 169069 w 409575"/>
              <a:gd name="connsiteY34" fmla="*/ 216694 h 542925"/>
              <a:gd name="connsiteX35" fmla="*/ 124587 w 409575"/>
              <a:gd name="connsiteY35" fmla="*/ 216694 h 542925"/>
              <a:gd name="connsiteX36" fmla="*/ 226219 w 409575"/>
              <a:gd name="connsiteY36" fmla="*/ 463391 h 542925"/>
              <a:gd name="connsiteX37" fmla="*/ 226219 w 409575"/>
              <a:gd name="connsiteY37" fmla="*/ 502444 h 542925"/>
              <a:gd name="connsiteX38" fmla="*/ 321469 w 409575"/>
              <a:gd name="connsiteY38" fmla="*/ 502444 h 542925"/>
              <a:gd name="connsiteX39" fmla="*/ 321469 w 409575"/>
              <a:gd name="connsiteY39" fmla="*/ 540544 h 542925"/>
              <a:gd name="connsiteX40" fmla="*/ 92869 w 409575"/>
              <a:gd name="connsiteY40" fmla="*/ 540544 h 542925"/>
              <a:gd name="connsiteX41" fmla="*/ 92869 w 409575"/>
              <a:gd name="connsiteY41" fmla="*/ 502444 h 542925"/>
              <a:gd name="connsiteX42" fmla="*/ 188119 w 409575"/>
              <a:gd name="connsiteY42" fmla="*/ 502444 h 542925"/>
              <a:gd name="connsiteX43" fmla="*/ 188119 w 409575"/>
              <a:gd name="connsiteY43" fmla="*/ 463391 h 542925"/>
              <a:gd name="connsiteX44" fmla="*/ 7144 w 409575"/>
              <a:gd name="connsiteY44" fmla="*/ 264319 h 542925"/>
              <a:gd name="connsiteX45" fmla="*/ 45244 w 409575"/>
              <a:gd name="connsiteY45" fmla="*/ 264319 h 542925"/>
              <a:gd name="connsiteX46" fmla="*/ 207169 w 409575"/>
              <a:gd name="connsiteY46" fmla="*/ 426244 h 542925"/>
              <a:gd name="connsiteX47" fmla="*/ 369094 w 409575"/>
              <a:gd name="connsiteY47" fmla="*/ 264319 h 542925"/>
              <a:gd name="connsiteX48" fmla="*/ 407194 w 409575"/>
              <a:gd name="connsiteY48" fmla="*/ 264319 h 542925"/>
              <a:gd name="connsiteX49" fmla="*/ 226219 w 409575"/>
              <a:gd name="connsiteY49" fmla="*/ 46339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09575" h="542925">
                <a:moveTo>
                  <a:pt x="208788" y="388144"/>
                </a:moveTo>
                <a:lnTo>
                  <a:pt x="208788" y="388144"/>
                </a:lnTo>
                <a:cubicBezTo>
                  <a:pt x="276320" y="388144"/>
                  <a:pt x="330994" y="333375"/>
                  <a:pt x="330994" y="265938"/>
                </a:cubicBezTo>
                <a:lnTo>
                  <a:pt x="330994" y="254794"/>
                </a:lnTo>
                <a:lnTo>
                  <a:pt x="330994" y="140494"/>
                </a:lnTo>
                <a:lnTo>
                  <a:pt x="330994" y="129350"/>
                </a:lnTo>
                <a:cubicBezTo>
                  <a:pt x="330994" y="61913"/>
                  <a:pt x="276225" y="7144"/>
                  <a:pt x="208788" y="7144"/>
                </a:cubicBezTo>
                <a:lnTo>
                  <a:pt x="208788" y="7144"/>
                </a:lnTo>
                <a:cubicBezTo>
                  <a:pt x="141256" y="7144"/>
                  <a:pt x="86583" y="61913"/>
                  <a:pt x="86583" y="129350"/>
                </a:cubicBezTo>
                <a:lnTo>
                  <a:pt x="86583" y="140494"/>
                </a:lnTo>
                <a:lnTo>
                  <a:pt x="86583" y="254794"/>
                </a:lnTo>
                <a:lnTo>
                  <a:pt x="86583" y="265938"/>
                </a:lnTo>
                <a:cubicBezTo>
                  <a:pt x="86487" y="333375"/>
                  <a:pt x="141256" y="388144"/>
                  <a:pt x="208788" y="388144"/>
                </a:cubicBezTo>
                <a:close/>
                <a:moveTo>
                  <a:pt x="124587" y="216694"/>
                </a:moveTo>
                <a:lnTo>
                  <a:pt x="124587" y="178594"/>
                </a:lnTo>
                <a:lnTo>
                  <a:pt x="169069" y="178594"/>
                </a:lnTo>
                <a:lnTo>
                  <a:pt x="169069" y="140494"/>
                </a:lnTo>
                <a:lnTo>
                  <a:pt x="124587" y="140494"/>
                </a:lnTo>
                <a:lnTo>
                  <a:pt x="124587" y="129350"/>
                </a:lnTo>
                <a:cubicBezTo>
                  <a:pt x="124587" y="82963"/>
                  <a:pt x="162306" y="45244"/>
                  <a:pt x="208693" y="45244"/>
                </a:cubicBezTo>
                <a:cubicBezTo>
                  <a:pt x="255080" y="45244"/>
                  <a:pt x="292894" y="82963"/>
                  <a:pt x="292894" y="129350"/>
                </a:cubicBezTo>
                <a:lnTo>
                  <a:pt x="292894" y="140494"/>
                </a:lnTo>
                <a:lnTo>
                  <a:pt x="245269" y="140494"/>
                </a:lnTo>
                <a:lnTo>
                  <a:pt x="245269" y="178594"/>
                </a:lnTo>
                <a:lnTo>
                  <a:pt x="292894" y="178594"/>
                </a:lnTo>
                <a:lnTo>
                  <a:pt x="292894" y="216694"/>
                </a:lnTo>
                <a:lnTo>
                  <a:pt x="245269" y="216694"/>
                </a:lnTo>
                <a:lnTo>
                  <a:pt x="245269" y="254794"/>
                </a:lnTo>
                <a:lnTo>
                  <a:pt x="292894" y="254794"/>
                </a:lnTo>
                <a:lnTo>
                  <a:pt x="292894" y="265938"/>
                </a:lnTo>
                <a:cubicBezTo>
                  <a:pt x="292894" y="312325"/>
                  <a:pt x="255175" y="350044"/>
                  <a:pt x="208788" y="350044"/>
                </a:cubicBezTo>
                <a:cubicBezTo>
                  <a:pt x="162401" y="350044"/>
                  <a:pt x="124683" y="312325"/>
                  <a:pt x="124683" y="265938"/>
                </a:cubicBezTo>
                <a:lnTo>
                  <a:pt x="124683" y="254794"/>
                </a:lnTo>
                <a:lnTo>
                  <a:pt x="169069" y="254794"/>
                </a:lnTo>
                <a:lnTo>
                  <a:pt x="169069" y="216694"/>
                </a:lnTo>
                <a:lnTo>
                  <a:pt x="124587" y="216694"/>
                </a:lnTo>
                <a:close/>
                <a:moveTo>
                  <a:pt x="226219" y="463391"/>
                </a:moveTo>
                <a:lnTo>
                  <a:pt x="226219" y="502444"/>
                </a:lnTo>
                <a:lnTo>
                  <a:pt x="321469" y="502444"/>
                </a:lnTo>
                <a:lnTo>
                  <a:pt x="321469" y="540544"/>
                </a:lnTo>
                <a:lnTo>
                  <a:pt x="92869" y="540544"/>
                </a:lnTo>
                <a:lnTo>
                  <a:pt x="92869" y="502444"/>
                </a:lnTo>
                <a:lnTo>
                  <a:pt x="188119" y="502444"/>
                </a:lnTo>
                <a:lnTo>
                  <a:pt x="188119" y="463391"/>
                </a:lnTo>
                <a:cubicBezTo>
                  <a:pt x="86773" y="453771"/>
                  <a:pt x="7144" y="368237"/>
                  <a:pt x="7144" y="264319"/>
                </a:cubicBezTo>
                <a:lnTo>
                  <a:pt x="45244" y="264319"/>
                </a:lnTo>
                <a:cubicBezTo>
                  <a:pt x="45244" y="353568"/>
                  <a:pt x="117920" y="426244"/>
                  <a:pt x="207169" y="426244"/>
                </a:cubicBezTo>
                <a:cubicBezTo>
                  <a:pt x="296418" y="426244"/>
                  <a:pt x="369094" y="353568"/>
                  <a:pt x="369094" y="264319"/>
                </a:cubicBezTo>
                <a:lnTo>
                  <a:pt x="407194" y="264319"/>
                </a:lnTo>
                <a:cubicBezTo>
                  <a:pt x="407194" y="368141"/>
                  <a:pt x="327565" y="453771"/>
                  <a:pt x="226219" y="463391"/>
                </a:cubicBezTo>
                <a:close/>
              </a:path>
            </a:pathLst>
          </a:custGeom>
          <a:solidFill>
            <a:srgbClr val="002856"/>
          </a:solidFill>
          <a:ln w="9525" cap="flat">
            <a:noFill/>
            <a:prstDash val="solid"/>
            <a:miter/>
          </a:ln>
        </p:spPr>
        <p:txBody>
          <a:bodyPr rtlCol="0" anchor="ctr"/>
          <a:lstStyle/>
          <a:p>
            <a:endParaRPr lang="en-US" sz="1600" dirty="0">
              <a:latin typeface="Arial" panose="020B0604020202020204" pitchFamily="34" charset="0"/>
              <a:cs typeface="Arial" panose="020B0604020202020204" pitchFamily="34" charset="0"/>
            </a:endParaRPr>
          </a:p>
        </p:txBody>
      </p:sp>
      <p:pic>
        <p:nvPicPr>
          <p:cNvPr id="157" name="Graphic 156">
            <a:extLst>
              <a:ext uri="{FF2B5EF4-FFF2-40B4-BE49-F238E27FC236}">
                <a16:creationId xmlns:a16="http://schemas.microsoft.com/office/drawing/2014/main" id="{F8239474-E911-424D-9ED6-E87CD33CC40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369" y="2086169"/>
            <a:ext cx="710035" cy="505900"/>
          </a:xfrm>
          <a:prstGeom prst="rect">
            <a:avLst/>
          </a:prstGeom>
        </p:spPr>
      </p:pic>
      <p:sp>
        <p:nvSpPr>
          <p:cNvPr id="5" name="Rectangle 4">
            <a:extLst>
              <a:ext uri="{FF2B5EF4-FFF2-40B4-BE49-F238E27FC236}">
                <a16:creationId xmlns:a16="http://schemas.microsoft.com/office/drawing/2014/main" id="{ED50FA6D-8E8E-9296-4E72-872564A83B35}"/>
              </a:ext>
            </a:extLst>
          </p:cNvPr>
          <p:cNvSpPr/>
          <p:nvPr/>
        </p:nvSpPr>
        <p:spPr bwMode="gray">
          <a:xfrm>
            <a:off x="1944018" y="1483258"/>
            <a:ext cx="7776019" cy="197586"/>
          </a:xfrm>
          <a:prstGeom prst="rect">
            <a:avLst/>
          </a:prstGeom>
          <a:solidFill>
            <a:srgbClr val="002856"/>
          </a:solidFill>
          <a:ln w="25400" cap="flat" cmpd="sng" algn="ctr">
            <a:noFill/>
            <a:prstDash val="solid"/>
          </a:ln>
          <a:effectLst/>
        </p:spPr>
        <p:txBody>
          <a:bodyPr rtlCol="0" anchor="ctr"/>
          <a:lstStyle/>
          <a:p>
            <a:pPr algn="ctr" eaLnBrk="0" fontAlgn="base" hangingPunct="0">
              <a:lnSpc>
                <a:spcPct val="90000"/>
              </a:lnSpc>
              <a:spcBef>
                <a:spcPct val="30000"/>
              </a:spcBef>
              <a:spcAft>
                <a:spcPct val="10000"/>
              </a:spcAft>
              <a:defRPr/>
            </a:pPr>
            <a:r>
              <a:rPr lang="en-US" sz="1100" b="1" kern="0" dirty="0">
                <a:solidFill>
                  <a:srgbClr val="FFFFFF"/>
                </a:solidFill>
                <a:ea typeface="Arial Unicode MS"/>
                <a:cs typeface="Arial Unicode MS"/>
              </a:rPr>
              <a:t>Multiexperience apps</a:t>
            </a:r>
          </a:p>
        </p:txBody>
      </p:sp>
      <p:sp>
        <p:nvSpPr>
          <p:cNvPr id="8" name="Rectangle 7">
            <a:extLst>
              <a:ext uri="{FF2B5EF4-FFF2-40B4-BE49-F238E27FC236}">
                <a16:creationId xmlns:a16="http://schemas.microsoft.com/office/drawing/2014/main" id="{0F94699B-6514-CEE1-2A0D-1A141656EF77}"/>
              </a:ext>
            </a:extLst>
          </p:cNvPr>
          <p:cNvSpPr/>
          <p:nvPr/>
        </p:nvSpPr>
        <p:spPr bwMode="gray">
          <a:xfrm>
            <a:off x="1944018" y="1495009"/>
            <a:ext cx="7776019" cy="1337190"/>
          </a:xfrm>
          <a:prstGeom prst="rect">
            <a:avLst/>
          </a:prstGeom>
          <a:noFill/>
          <a:ln w="9525" cap="flat" cmpd="sng" algn="ctr">
            <a:solidFill>
              <a:srgbClr val="002060"/>
            </a:solidFill>
            <a:prstDash val="solid"/>
          </a:ln>
          <a:effectLst/>
        </p:spPr>
        <p:txBody>
          <a:bodyPr rtlCol="0" anchor="ctr"/>
          <a:lstStyle/>
          <a:p>
            <a:pPr algn="ctr" eaLnBrk="0" fontAlgn="base" hangingPunct="0">
              <a:lnSpc>
                <a:spcPct val="90000"/>
              </a:lnSpc>
              <a:spcBef>
                <a:spcPct val="30000"/>
              </a:spcBef>
              <a:spcAft>
                <a:spcPct val="10000"/>
              </a:spcAft>
              <a:defRPr/>
            </a:pPr>
            <a:endParaRPr lang="en-US" sz="1400" kern="0" dirty="0">
              <a:solidFill>
                <a:srgbClr val="FFFFFF"/>
              </a:solidFill>
              <a:ea typeface="Arial Unicode MS"/>
              <a:cs typeface="Arial Unicode MS"/>
            </a:endParaRPr>
          </a:p>
        </p:txBody>
      </p:sp>
      <p:sp>
        <p:nvSpPr>
          <p:cNvPr id="12" name="TextBox 11">
            <a:extLst>
              <a:ext uri="{FF2B5EF4-FFF2-40B4-BE49-F238E27FC236}">
                <a16:creationId xmlns:a16="http://schemas.microsoft.com/office/drawing/2014/main" id="{B037840B-135C-5464-7410-EEFBE1DEF888}"/>
              </a:ext>
            </a:extLst>
          </p:cNvPr>
          <p:cNvSpPr txBox="1"/>
          <p:nvPr/>
        </p:nvSpPr>
        <p:spPr bwMode="gray">
          <a:xfrm>
            <a:off x="3164753" y="2413158"/>
            <a:ext cx="454858" cy="169277"/>
          </a:xfrm>
          <a:prstGeom prst="rect">
            <a:avLst/>
          </a:prstGeom>
          <a:noFill/>
        </p:spPr>
        <p:txBody>
          <a:bodyPr wrap="square" lIns="0" tIns="0" rIns="0" bIns="0" rtlCol="0">
            <a:spAutoFit/>
          </a:bodyPr>
          <a:lstStyle/>
          <a:p>
            <a:pPr algn="ctr"/>
            <a:r>
              <a:rPr lang="en-US" sz="1100" dirty="0">
                <a:solidFill>
                  <a:srgbClr val="000000"/>
                </a:solidFill>
              </a:rPr>
              <a:t>Mobile</a:t>
            </a:r>
          </a:p>
        </p:txBody>
      </p:sp>
      <p:sp>
        <p:nvSpPr>
          <p:cNvPr id="13" name="TextBox 12">
            <a:extLst>
              <a:ext uri="{FF2B5EF4-FFF2-40B4-BE49-F238E27FC236}">
                <a16:creationId xmlns:a16="http://schemas.microsoft.com/office/drawing/2014/main" id="{B150EF3E-C39B-4C3E-787C-BC27CA0C17E3}"/>
              </a:ext>
            </a:extLst>
          </p:cNvPr>
          <p:cNvSpPr txBox="1"/>
          <p:nvPr/>
        </p:nvSpPr>
        <p:spPr bwMode="gray">
          <a:xfrm>
            <a:off x="2110483" y="2413158"/>
            <a:ext cx="454858" cy="169277"/>
          </a:xfrm>
          <a:prstGeom prst="rect">
            <a:avLst/>
          </a:prstGeom>
          <a:noFill/>
        </p:spPr>
        <p:txBody>
          <a:bodyPr wrap="square" lIns="0" tIns="0" rIns="0" bIns="0" rtlCol="0">
            <a:spAutoFit/>
          </a:bodyPr>
          <a:lstStyle/>
          <a:p>
            <a:pPr algn="ctr"/>
            <a:r>
              <a:rPr lang="en-US" sz="1100" dirty="0">
                <a:solidFill>
                  <a:srgbClr val="000000"/>
                </a:solidFill>
              </a:rPr>
              <a:t>Web</a:t>
            </a:r>
          </a:p>
        </p:txBody>
      </p:sp>
      <p:sp>
        <p:nvSpPr>
          <p:cNvPr id="14" name="TextBox 13">
            <a:extLst>
              <a:ext uri="{FF2B5EF4-FFF2-40B4-BE49-F238E27FC236}">
                <a16:creationId xmlns:a16="http://schemas.microsoft.com/office/drawing/2014/main" id="{EB2CE630-F226-4A43-B537-270AA88991A1}"/>
              </a:ext>
            </a:extLst>
          </p:cNvPr>
          <p:cNvSpPr txBox="1"/>
          <p:nvPr/>
        </p:nvSpPr>
        <p:spPr bwMode="gray">
          <a:xfrm>
            <a:off x="4241196" y="2413158"/>
            <a:ext cx="454858" cy="169277"/>
          </a:xfrm>
          <a:prstGeom prst="rect">
            <a:avLst/>
          </a:prstGeom>
          <a:noFill/>
        </p:spPr>
        <p:txBody>
          <a:bodyPr wrap="square" lIns="0" tIns="0" rIns="0" bIns="0" rtlCol="0">
            <a:spAutoFit/>
          </a:bodyPr>
          <a:lstStyle/>
          <a:p>
            <a:pPr algn="ctr"/>
            <a:r>
              <a:rPr lang="en-US" sz="1100" dirty="0">
                <a:solidFill>
                  <a:srgbClr val="000000"/>
                </a:solidFill>
              </a:rPr>
              <a:t>Voice</a:t>
            </a:r>
          </a:p>
        </p:txBody>
      </p:sp>
      <p:sp>
        <p:nvSpPr>
          <p:cNvPr id="18" name="TextBox 17">
            <a:extLst>
              <a:ext uri="{FF2B5EF4-FFF2-40B4-BE49-F238E27FC236}">
                <a16:creationId xmlns:a16="http://schemas.microsoft.com/office/drawing/2014/main" id="{0D80D6CA-CF60-33C5-B454-A8F0D43A9B53}"/>
              </a:ext>
            </a:extLst>
          </p:cNvPr>
          <p:cNvSpPr txBox="1"/>
          <p:nvPr/>
        </p:nvSpPr>
        <p:spPr bwMode="gray">
          <a:xfrm>
            <a:off x="3738578" y="2413158"/>
            <a:ext cx="454858" cy="169277"/>
          </a:xfrm>
          <a:prstGeom prst="rect">
            <a:avLst/>
          </a:prstGeom>
          <a:noFill/>
        </p:spPr>
        <p:txBody>
          <a:bodyPr wrap="square" lIns="0" tIns="0" rIns="0" bIns="0" rtlCol="0">
            <a:spAutoFit/>
          </a:bodyPr>
          <a:lstStyle/>
          <a:p>
            <a:pPr algn="ctr"/>
            <a:r>
              <a:rPr lang="en-US" sz="1100" dirty="0">
                <a:solidFill>
                  <a:srgbClr val="000000"/>
                </a:solidFill>
              </a:rPr>
              <a:t>Device</a:t>
            </a:r>
          </a:p>
        </p:txBody>
      </p:sp>
      <p:pic>
        <p:nvPicPr>
          <p:cNvPr id="2050" name="Picture 2">
            <a:extLst>
              <a:ext uri="{FF2B5EF4-FFF2-40B4-BE49-F238E27FC236}">
                <a16:creationId xmlns:a16="http://schemas.microsoft.com/office/drawing/2014/main" id="{2271DA91-58DF-D4F4-21B9-A9DB07793C2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3970" y="2099673"/>
            <a:ext cx="280285" cy="24024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C720B0FC-FBC4-97AA-CA74-7B74453FA7AD}"/>
              </a:ext>
            </a:extLst>
          </p:cNvPr>
          <p:cNvSpPr txBox="1"/>
          <p:nvPr/>
        </p:nvSpPr>
        <p:spPr bwMode="gray">
          <a:xfrm>
            <a:off x="2565880" y="2413104"/>
            <a:ext cx="516462" cy="169277"/>
          </a:xfrm>
          <a:prstGeom prst="rect">
            <a:avLst/>
          </a:prstGeom>
          <a:noFill/>
        </p:spPr>
        <p:txBody>
          <a:bodyPr wrap="square" lIns="0" tIns="0" rIns="0" bIns="0" rtlCol="0">
            <a:spAutoFit/>
          </a:bodyPr>
          <a:lstStyle/>
          <a:p>
            <a:pPr algn="ctr"/>
            <a:r>
              <a:rPr lang="en-US" sz="1100" dirty="0">
                <a:solidFill>
                  <a:srgbClr val="000000"/>
                </a:solidFill>
              </a:rPr>
              <a:t>Chatbot</a:t>
            </a:r>
          </a:p>
        </p:txBody>
      </p:sp>
      <p:pic>
        <p:nvPicPr>
          <p:cNvPr id="2058" name="Picture 10">
            <a:extLst>
              <a:ext uri="{FF2B5EF4-FFF2-40B4-BE49-F238E27FC236}">
                <a16:creationId xmlns:a16="http://schemas.microsoft.com/office/drawing/2014/main" id="{03F3CF60-3E89-508B-2F72-9BE3351416C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39447" y="4134905"/>
            <a:ext cx="202657" cy="202657"/>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A5CE2942-20FE-12BC-D563-BD4C2FC87A0C}"/>
              </a:ext>
            </a:extLst>
          </p:cNvPr>
          <p:cNvSpPr txBox="1"/>
          <p:nvPr/>
        </p:nvSpPr>
        <p:spPr bwMode="gray">
          <a:xfrm>
            <a:off x="3484615" y="4066955"/>
            <a:ext cx="821547" cy="338554"/>
          </a:xfrm>
          <a:prstGeom prst="rect">
            <a:avLst/>
          </a:prstGeom>
          <a:noFill/>
        </p:spPr>
        <p:txBody>
          <a:bodyPr wrap="square" lIns="0" tIns="0" rIns="0" bIns="0" rtlCol="0">
            <a:spAutoFit/>
          </a:bodyPr>
          <a:lstStyle/>
          <a:p>
            <a:r>
              <a:rPr lang="en-US" sz="1100" dirty="0">
                <a:solidFill>
                  <a:srgbClr val="000000"/>
                </a:solidFill>
              </a:rPr>
              <a:t>Enterprise API gateway</a:t>
            </a:r>
          </a:p>
        </p:txBody>
      </p:sp>
      <p:pic>
        <p:nvPicPr>
          <p:cNvPr id="27" name="Picture 10">
            <a:extLst>
              <a:ext uri="{FF2B5EF4-FFF2-40B4-BE49-F238E27FC236}">
                <a16:creationId xmlns:a16="http://schemas.microsoft.com/office/drawing/2014/main" id="{43446747-DCFA-D86E-17B6-60EBE16C2B1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89572" y="4134905"/>
            <a:ext cx="202657" cy="202657"/>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367FA2D9-C133-2F41-AFA0-C096627FA0E8}"/>
              </a:ext>
            </a:extLst>
          </p:cNvPr>
          <p:cNvSpPr txBox="1"/>
          <p:nvPr/>
        </p:nvSpPr>
        <p:spPr bwMode="gray">
          <a:xfrm>
            <a:off x="4838658" y="4066955"/>
            <a:ext cx="821547" cy="338554"/>
          </a:xfrm>
          <a:prstGeom prst="rect">
            <a:avLst/>
          </a:prstGeom>
          <a:noFill/>
        </p:spPr>
        <p:txBody>
          <a:bodyPr wrap="square" lIns="0" tIns="0" rIns="0" bIns="0" rtlCol="0">
            <a:spAutoFit/>
          </a:bodyPr>
          <a:lstStyle/>
          <a:p>
            <a:r>
              <a:rPr lang="en-US" sz="1100" dirty="0">
                <a:solidFill>
                  <a:srgbClr val="000000"/>
                </a:solidFill>
              </a:rPr>
              <a:t>Lightweight API gateway</a:t>
            </a:r>
          </a:p>
        </p:txBody>
      </p:sp>
      <p:sp>
        <p:nvSpPr>
          <p:cNvPr id="29" name="Rectangle 28">
            <a:extLst>
              <a:ext uri="{FF2B5EF4-FFF2-40B4-BE49-F238E27FC236}">
                <a16:creationId xmlns:a16="http://schemas.microsoft.com/office/drawing/2014/main" id="{E2786EAB-E327-42A7-EFE3-5E9A40CCEB76}"/>
              </a:ext>
            </a:extLst>
          </p:cNvPr>
          <p:cNvSpPr/>
          <p:nvPr/>
        </p:nvSpPr>
        <p:spPr bwMode="gray">
          <a:xfrm>
            <a:off x="1944017" y="3229878"/>
            <a:ext cx="821547" cy="363135"/>
          </a:xfrm>
          <a:prstGeom prst="rect">
            <a:avLst/>
          </a:prstGeom>
          <a:solidFill>
            <a:srgbClr val="002856"/>
          </a:solidFill>
          <a:ln w="25400" cap="flat" cmpd="sng" algn="ctr">
            <a:noFill/>
            <a:prstDash val="solid"/>
          </a:ln>
          <a:effectLst/>
        </p:spPr>
        <p:txBody>
          <a:bodyPr rtlCol="0" anchor="ctr"/>
          <a:lstStyle/>
          <a:p>
            <a:pPr algn="ctr" eaLnBrk="0" fontAlgn="base" hangingPunct="0">
              <a:lnSpc>
                <a:spcPct val="90000"/>
              </a:lnSpc>
              <a:spcBef>
                <a:spcPct val="30000"/>
              </a:spcBef>
              <a:spcAft>
                <a:spcPct val="10000"/>
              </a:spcAft>
              <a:defRPr/>
            </a:pPr>
            <a:r>
              <a:rPr lang="en-US" sz="1100" b="1" kern="0" dirty="0">
                <a:solidFill>
                  <a:srgbClr val="FFFFFF"/>
                </a:solidFill>
                <a:ea typeface="Arial Unicode MS"/>
                <a:cs typeface="Arial Unicode MS"/>
              </a:rPr>
              <a:t>Outer APIs</a:t>
            </a:r>
          </a:p>
        </p:txBody>
      </p:sp>
      <p:sp>
        <p:nvSpPr>
          <p:cNvPr id="30" name="Rectangle 29">
            <a:extLst>
              <a:ext uri="{FF2B5EF4-FFF2-40B4-BE49-F238E27FC236}">
                <a16:creationId xmlns:a16="http://schemas.microsoft.com/office/drawing/2014/main" id="{34A85CE6-C80D-0D72-713D-06F0A7B99837}"/>
              </a:ext>
            </a:extLst>
          </p:cNvPr>
          <p:cNvSpPr/>
          <p:nvPr/>
        </p:nvSpPr>
        <p:spPr bwMode="gray">
          <a:xfrm>
            <a:off x="1944016" y="3228527"/>
            <a:ext cx="7329095" cy="360757"/>
          </a:xfrm>
          <a:prstGeom prst="rect">
            <a:avLst/>
          </a:prstGeom>
          <a:noFill/>
          <a:ln w="9525" cap="flat" cmpd="sng" algn="ctr">
            <a:solidFill>
              <a:srgbClr val="002060"/>
            </a:solidFill>
            <a:prstDash val="solid"/>
          </a:ln>
          <a:effectLst/>
        </p:spPr>
        <p:txBody>
          <a:bodyPr rtlCol="0" anchor="ctr"/>
          <a:lstStyle/>
          <a:p>
            <a:pPr algn="ctr" eaLnBrk="0" fontAlgn="base" hangingPunct="0">
              <a:lnSpc>
                <a:spcPct val="90000"/>
              </a:lnSpc>
              <a:spcBef>
                <a:spcPct val="30000"/>
              </a:spcBef>
              <a:spcAft>
                <a:spcPct val="10000"/>
              </a:spcAft>
              <a:defRPr/>
            </a:pPr>
            <a:endParaRPr lang="en-US" sz="1400" kern="0" dirty="0">
              <a:solidFill>
                <a:srgbClr val="FFFFFF"/>
              </a:solidFill>
              <a:ea typeface="Arial Unicode MS"/>
              <a:cs typeface="Arial Unicode MS"/>
            </a:endParaRPr>
          </a:p>
        </p:txBody>
      </p:sp>
      <p:sp>
        <p:nvSpPr>
          <p:cNvPr id="32" name="TextBox 31">
            <a:extLst>
              <a:ext uri="{FF2B5EF4-FFF2-40B4-BE49-F238E27FC236}">
                <a16:creationId xmlns:a16="http://schemas.microsoft.com/office/drawing/2014/main" id="{F42E16F5-2434-1528-6B21-C606D69C0551}"/>
              </a:ext>
            </a:extLst>
          </p:cNvPr>
          <p:cNvSpPr txBox="1"/>
          <p:nvPr/>
        </p:nvSpPr>
        <p:spPr bwMode="gray">
          <a:xfrm>
            <a:off x="3093047" y="3330205"/>
            <a:ext cx="1011821" cy="169277"/>
          </a:xfrm>
          <a:prstGeom prst="rect">
            <a:avLst/>
          </a:prstGeom>
          <a:noFill/>
        </p:spPr>
        <p:txBody>
          <a:bodyPr wrap="square" lIns="0" tIns="0" rIns="0" bIns="0" rtlCol="0">
            <a:spAutoFit/>
          </a:bodyPr>
          <a:lstStyle/>
          <a:p>
            <a:pPr algn="ctr"/>
            <a:r>
              <a:rPr lang="en-US" sz="1100" dirty="0">
                <a:solidFill>
                  <a:srgbClr val="000000"/>
                </a:solidFill>
              </a:rPr>
              <a:t>Experience API</a:t>
            </a:r>
          </a:p>
        </p:txBody>
      </p:sp>
      <p:sp>
        <p:nvSpPr>
          <p:cNvPr id="37" name="Rectangle 36">
            <a:extLst>
              <a:ext uri="{FF2B5EF4-FFF2-40B4-BE49-F238E27FC236}">
                <a16:creationId xmlns:a16="http://schemas.microsoft.com/office/drawing/2014/main" id="{20A85009-B85F-45F6-8419-487088B74BC7}"/>
              </a:ext>
            </a:extLst>
          </p:cNvPr>
          <p:cNvSpPr/>
          <p:nvPr/>
        </p:nvSpPr>
        <p:spPr bwMode="gray">
          <a:xfrm>
            <a:off x="1944016" y="3704034"/>
            <a:ext cx="9064517" cy="215821"/>
          </a:xfrm>
          <a:prstGeom prst="rect">
            <a:avLst/>
          </a:prstGeom>
          <a:solidFill>
            <a:srgbClr val="002856"/>
          </a:solidFill>
          <a:ln w="25400" cap="flat" cmpd="sng" algn="ctr">
            <a:noFill/>
            <a:prstDash val="solid"/>
          </a:ln>
          <a:effectLst/>
        </p:spPr>
        <p:txBody>
          <a:bodyPr rtlCol="0" anchor="ctr"/>
          <a:lstStyle/>
          <a:p>
            <a:pPr algn="ctr" eaLnBrk="0" fontAlgn="base" hangingPunct="0">
              <a:lnSpc>
                <a:spcPct val="90000"/>
              </a:lnSpc>
              <a:spcBef>
                <a:spcPct val="30000"/>
              </a:spcBef>
              <a:spcAft>
                <a:spcPct val="10000"/>
              </a:spcAft>
              <a:defRPr/>
            </a:pPr>
            <a:r>
              <a:rPr lang="en-US" sz="1050" b="1" kern="0" dirty="0">
                <a:solidFill>
                  <a:srgbClr val="FFFFFF"/>
                </a:solidFill>
                <a:ea typeface="Arial Unicode MS"/>
                <a:cs typeface="Arial Unicode MS"/>
              </a:rPr>
              <a:t>API and event mediation</a:t>
            </a:r>
          </a:p>
        </p:txBody>
      </p:sp>
      <p:sp>
        <p:nvSpPr>
          <p:cNvPr id="38" name="Rectangle 37">
            <a:extLst>
              <a:ext uri="{FF2B5EF4-FFF2-40B4-BE49-F238E27FC236}">
                <a16:creationId xmlns:a16="http://schemas.microsoft.com/office/drawing/2014/main" id="{4DC09F62-DB15-7E3E-01D8-175CCFFDAB39}"/>
              </a:ext>
            </a:extLst>
          </p:cNvPr>
          <p:cNvSpPr/>
          <p:nvPr/>
        </p:nvSpPr>
        <p:spPr bwMode="gray">
          <a:xfrm>
            <a:off x="1944016" y="3695855"/>
            <a:ext cx="9064517" cy="1425082"/>
          </a:xfrm>
          <a:prstGeom prst="rect">
            <a:avLst/>
          </a:prstGeom>
          <a:noFill/>
          <a:ln w="9525" cap="flat" cmpd="sng" algn="ctr">
            <a:solidFill>
              <a:srgbClr val="002060"/>
            </a:solidFill>
            <a:prstDash val="solid"/>
          </a:ln>
          <a:effectLst/>
        </p:spPr>
        <p:txBody>
          <a:bodyPr rtlCol="0" anchor="ctr"/>
          <a:lstStyle/>
          <a:p>
            <a:pPr algn="ctr" eaLnBrk="0" fontAlgn="base" hangingPunct="0">
              <a:lnSpc>
                <a:spcPct val="90000"/>
              </a:lnSpc>
              <a:spcBef>
                <a:spcPct val="30000"/>
              </a:spcBef>
              <a:spcAft>
                <a:spcPct val="10000"/>
              </a:spcAft>
              <a:defRPr/>
            </a:pPr>
            <a:endParaRPr lang="en-US" sz="1400" kern="0" dirty="0">
              <a:solidFill>
                <a:srgbClr val="FFFFFF"/>
              </a:solidFill>
              <a:ea typeface="Arial Unicode MS"/>
              <a:cs typeface="Arial Unicode MS"/>
            </a:endParaRPr>
          </a:p>
        </p:txBody>
      </p:sp>
      <p:pic>
        <p:nvPicPr>
          <p:cNvPr id="41" name="Picture 10">
            <a:extLst>
              <a:ext uri="{FF2B5EF4-FFF2-40B4-BE49-F238E27FC236}">
                <a16:creationId xmlns:a16="http://schemas.microsoft.com/office/drawing/2014/main" id="{BCC9537B-B258-2D27-A52F-9639BBC45EE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77904" y="4134905"/>
            <a:ext cx="202657" cy="202657"/>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EAB11B3C-493A-BE37-94CC-EAA0593053E8}"/>
              </a:ext>
            </a:extLst>
          </p:cNvPr>
          <p:cNvSpPr txBox="1"/>
          <p:nvPr/>
        </p:nvSpPr>
        <p:spPr bwMode="gray">
          <a:xfrm>
            <a:off x="6144783" y="4066955"/>
            <a:ext cx="821547" cy="338554"/>
          </a:xfrm>
          <a:prstGeom prst="rect">
            <a:avLst/>
          </a:prstGeom>
          <a:noFill/>
        </p:spPr>
        <p:txBody>
          <a:bodyPr wrap="square" lIns="0" tIns="0" rIns="0" bIns="0" rtlCol="0">
            <a:spAutoFit/>
          </a:bodyPr>
          <a:lstStyle/>
          <a:p>
            <a:r>
              <a:rPr lang="en-US" sz="1100" dirty="0">
                <a:solidFill>
                  <a:srgbClr val="000000"/>
                </a:solidFill>
              </a:rPr>
              <a:t>Ingress API</a:t>
            </a:r>
          </a:p>
          <a:p>
            <a:r>
              <a:rPr lang="en-US" sz="1100" dirty="0">
                <a:solidFill>
                  <a:srgbClr val="000000"/>
                </a:solidFill>
              </a:rPr>
              <a:t>gateway</a:t>
            </a:r>
          </a:p>
        </p:txBody>
      </p:sp>
      <p:sp>
        <p:nvSpPr>
          <p:cNvPr id="46" name="TextBox 45">
            <a:extLst>
              <a:ext uri="{FF2B5EF4-FFF2-40B4-BE49-F238E27FC236}">
                <a16:creationId xmlns:a16="http://schemas.microsoft.com/office/drawing/2014/main" id="{64D84573-9A29-5CCB-45A6-228228FB9C13}"/>
              </a:ext>
            </a:extLst>
          </p:cNvPr>
          <p:cNvSpPr txBox="1"/>
          <p:nvPr/>
        </p:nvSpPr>
        <p:spPr bwMode="gray">
          <a:xfrm>
            <a:off x="5998123" y="3323279"/>
            <a:ext cx="1309887" cy="169277"/>
          </a:xfrm>
          <a:prstGeom prst="rect">
            <a:avLst/>
          </a:prstGeom>
          <a:noFill/>
        </p:spPr>
        <p:txBody>
          <a:bodyPr wrap="square" lIns="0" tIns="0" rIns="0" bIns="0" rtlCol="0">
            <a:spAutoFit/>
          </a:bodyPr>
          <a:lstStyle/>
          <a:p>
            <a:pPr algn="ctr"/>
            <a:r>
              <a:rPr lang="en-US" sz="1100" dirty="0">
                <a:solidFill>
                  <a:srgbClr val="000000"/>
                </a:solidFill>
              </a:rPr>
              <a:t>Facade API</a:t>
            </a:r>
          </a:p>
        </p:txBody>
      </p:sp>
      <p:sp>
        <p:nvSpPr>
          <p:cNvPr id="49" name="TextBox 48">
            <a:extLst>
              <a:ext uri="{FF2B5EF4-FFF2-40B4-BE49-F238E27FC236}">
                <a16:creationId xmlns:a16="http://schemas.microsoft.com/office/drawing/2014/main" id="{D50E61B2-3B3A-47BA-F02A-F60C2DEDF854}"/>
              </a:ext>
            </a:extLst>
          </p:cNvPr>
          <p:cNvSpPr txBox="1"/>
          <p:nvPr/>
        </p:nvSpPr>
        <p:spPr bwMode="gray">
          <a:xfrm>
            <a:off x="2765564" y="5991883"/>
            <a:ext cx="821547" cy="338554"/>
          </a:xfrm>
          <a:prstGeom prst="rect">
            <a:avLst/>
          </a:prstGeom>
          <a:noFill/>
        </p:spPr>
        <p:txBody>
          <a:bodyPr wrap="square" lIns="0" tIns="0" rIns="0" bIns="0" rtlCol="0">
            <a:spAutoFit/>
          </a:bodyPr>
          <a:lstStyle/>
          <a:p>
            <a:pPr algn="ctr"/>
            <a:r>
              <a:rPr lang="en-US" sz="1100" dirty="0">
                <a:solidFill>
                  <a:srgbClr val="000000"/>
                </a:solidFill>
              </a:rPr>
              <a:t>Service</a:t>
            </a:r>
          </a:p>
          <a:p>
            <a:pPr algn="ctr"/>
            <a:r>
              <a:rPr lang="en-US" sz="1100" dirty="0">
                <a:solidFill>
                  <a:srgbClr val="000000"/>
                </a:solidFill>
              </a:rPr>
              <a:t>API</a:t>
            </a:r>
          </a:p>
        </p:txBody>
      </p:sp>
      <p:sp>
        <p:nvSpPr>
          <p:cNvPr id="50" name="TextBox 49">
            <a:extLst>
              <a:ext uri="{FF2B5EF4-FFF2-40B4-BE49-F238E27FC236}">
                <a16:creationId xmlns:a16="http://schemas.microsoft.com/office/drawing/2014/main" id="{29905424-E48D-7134-7AA0-D117DD938758}"/>
              </a:ext>
            </a:extLst>
          </p:cNvPr>
          <p:cNvSpPr txBox="1"/>
          <p:nvPr/>
        </p:nvSpPr>
        <p:spPr bwMode="gray">
          <a:xfrm>
            <a:off x="4745760" y="5993822"/>
            <a:ext cx="327483" cy="338554"/>
          </a:xfrm>
          <a:prstGeom prst="rect">
            <a:avLst/>
          </a:prstGeom>
          <a:noFill/>
        </p:spPr>
        <p:txBody>
          <a:bodyPr wrap="square" lIns="0" tIns="0" rIns="0" bIns="0" rtlCol="0">
            <a:spAutoFit/>
          </a:bodyPr>
          <a:lstStyle/>
          <a:p>
            <a:pPr algn="ctr"/>
            <a:r>
              <a:rPr lang="en-US" sz="1100" dirty="0">
                <a:solidFill>
                  <a:srgbClr val="000000"/>
                </a:solidFill>
              </a:rPr>
              <a:t>BFF API</a:t>
            </a:r>
          </a:p>
        </p:txBody>
      </p:sp>
      <p:sp>
        <p:nvSpPr>
          <p:cNvPr id="51" name="TextBox 50">
            <a:extLst>
              <a:ext uri="{FF2B5EF4-FFF2-40B4-BE49-F238E27FC236}">
                <a16:creationId xmlns:a16="http://schemas.microsoft.com/office/drawing/2014/main" id="{5B538AA6-4DCF-59ED-8DBD-0983892B02C0}"/>
              </a:ext>
            </a:extLst>
          </p:cNvPr>
          <p:cNvSpPr txBox="1"/>
          <p:nvPr/>
        </p:nvSpPr>
        <p:spPr bwMode="gray">
          <a:xfrm>
            <a:off x="5133786" y="5995714"/>
            <a:ext cx="821547" cy="338554"/>
          </a:xfrm>
          <a:prstGeom prst="rect">
            <a:avLst/>
          </a:prstGeom>
          <a:noFill/>
        </p:spPr>
        <p:txBody>
          <a:bodyPr wrap="square" lIns="0" tIns="0" rIns="0" bIns="0" rtlCol="0">
            <a:spAutoFit/>
          </a:bodyPr>
          <a:lstStyle/>
          <a:p>
            <a:pPr algn="ctr"/>
            <a:r>
              <a:rPr lang="en-US" sz="1100" dirty="0">
                <a:solidFill>
                  <a:srgbClr val="000000"/>
                </a:solidFill>
              </a:rPr>
              <a:t>Platform</a:t>
            </a:r>
          </a:p>
          <a:p>
            <a:pPr algn="ctr"/>
            <a:r>
              <a:rPr lang="en-US" sz="1100" dirty="0">
                <a:solidFill>
                  <a:srgbClr val="000000"/>
                </a:solidFill>
              </a:rPr>
              <a:t>API</a:t>
            </a:r>
          </a:p>
        </p:txBody>
      </p:sp>
      <p:sp>
        <p:nvSpPr>
          <p:cNvPr id="52" name="TextBox 51">
            <a:extLst>
              <a:ext uri="{FF2B5EF4-FFF2-40B4-BE49-F238E27FC236}">
                <a16:creationId xmlns:a16="http://schemas.microsoft.com/office/drawing/2014/main" id="{54CE3E8F-492E-E7EC-2046-FF202C846E4E}"/>
              </a:ext>
            </a:extLst>
          </p:cNvPr>
          <p:cNvSpPr txBox="1"/>
          <p:nvPr/>
        </p:nvSpPr>
        <p:spPr bwMode="gray">
          <a:xfrm>
            <a:off x="5923310" y="5977161"/>
            <a:ext cx="860458" cy="338554"/>
          </a:xfrm>
          <a:prstGeom prst="rect">
            <a:avLst/>
          </a:prstGeom>
          <a:noFill/>
        </p:spPr>
        <p:txBody>
          <a:bodyPr wrap="square" lIns="0" tIns="0" rIns="0" bIns="0" rtlCol="0">
            <a:spAutoFit/>
          </a:bodyPr>
          <a:lstStyle/>
          <a:p>
            <a:pPr algn="ctr"/>
            <a:r>
              <a:rPr lang="en-US" sz="1100" dirty="0">
                <a:solidFill>
                  <a:srgbClr val="000000"/>
                </a:solidFill>
              </a:rPr>
              <a:t>Legacy wrapper API</a:t>
            </a:r>
          </a:p>
        </p:txBody>
      </p:sp>
      <p:sp>
        <p:nvSpPr>
          <p:cNvPr id="54" name="TextBox 53">
            <a:extLst>
              <a:ext uri="{FF2B5EF4-FFF2-40B4-BE49-F238E27FC236}">
                <a16:creationId xmlns:a16="http://schemas.microsoft.com/office/drawing/2014/main" id="{E8FBB1A7-B5CD-C096-BC15-3BAB727D451E}"/>
              </a:ext>
            </a:extLst>
          </p:cNvPr>
          <p:cNvSpPr txBox="1"/>
          <p:nvPr/>
        </p:nvSpPr>
        <p:spPr bwMode="gray">
          <a:xfrm>
            <a:off x="6902842" y="5984499"/>
            <a:ext cx="695742" cy="338554"/>
          </a:xfrm>
          <a:prstGeom prst="rect">
            <a:avLst/>
          </a:prstGeom>
          <a:noFill/>
        </p:spPr>
        <p:txBody>
          <a:bodyPr wrap="square" lIns="0" tIns="0" rIns="0" bIns="0" rtlCol="0">
            <a:spAutoFit/>
          </a:bodyPr>
          <a:lstStyle/>
          <a:p>
            <a:pPr algn="ctr"/>
            <a:r>
              <a:rPr lang="en-US" sz="1100" dirty="0">
                <a:solidFill>
                  <a:srgbClr val="000000"/>
                </a:solidFill>
              </a:rPr>
              <a:t>Enterprise</a:t>
            </a:r>
          </a:p>
          <a:p>
            <a:pPr algn="ctr"/>
            <a:r>
              <a:rPr lang="en-US" sz="1100" dirty="0">
                <a:solidFill>
                  <a:srgbClr val="000000"/>
                </a:solidFill>
              </a:rPr>
              <a:t>app API</a:t>
            </a:r>
          </a:p>
        </p:txBody>
      </p:sp>
      <p:sp>
        <p:nvSpPr>
          <p:cNvPr id="61" name="Rectangle 60">
            <a:extLst>
              <a:ext uri="{FF2B5EF4-FFF2-40B4-BE49-F238E27FC236}">
                <a16:creationId xmlns:a16="http://schemas.microsoft.com/office/drawing/2014/main" id="{46F5AB87-14DE-C5F8-B48F-805848DCF642}"/>
              </a:ext>
            </a:extLst>
          </p:cNvPr>
          <p:cNvSpPr/>
          <p:nvPr/>
        </p:nvSpPr>
        <p:spPr bwMode="gray">
          <a:xfrm>
            <a:off x="1922534" y="5570781"/>
            <a:ext cx="9085998" cy="235267"/>
          </a:xfrm>
          <a:prstGeom prst="rect">
            <a:avLst/>
          </a:prstGeom>
          <a:solidFill>
            <a:srgbClr val="002856"/>
          </a:solidFill>
          <a:ln w="25400" cap="flat" cmpd="sng" algn="ctr">
            <a:noFill/>
            <a:prstDash val="solid"/>
          </a:ln>
          <a:effectLst/>
        </p:spPr>
        <p:txBody>
          <a:bodyPr rtlCol="0" anchor="ctr"/>
          <a:lstStyle/>
          <a:p>
            <a:pPr algn="ctr" eaLnBrk="0" fontAlgn="base" hangingPunct="0">
              <a:lnSpc>
                <a:spcPct val="90000"/>
              </a:lnSpc>
              <a:spcBef>
                <a:spcPct val="30000"/>
              </a:spcBef>
              <a:spcAft>
                <a:spcPct val="10000"/>
              </a:spcAft>
              <a:defRPr/>
            </a:pPr>
            <a:r>
              <a:rPr lang="en-US" sz="1050" b="1" kern="0" dirty="0" err="1">
                <a:solidFill>
                  <a:srgbClr val="FFFFFF"/>
                </a:solidFill>
                <a:ea typeface="Arial Unicode MS"/>
                <a:cs typeface="Arial Unicode MS"/>
              </a:rPr>
              <a:t>Multigrained</a:t>
            </a:r>
            <a:r>
              <a:rPr lang="en-US" sz="1050" b="1" kern="0" dirty="0">
                <a:solidFill>
                  <a:srgbClr val="FFFFFF"/>
                </a:solidFill>
                <a:ea typeface="Arial Unicode MS"/>
                <a:cs typeface="Arial Unicode MS"/>
              </a:rPr>
              <a:t> services</a:t>
            </a:r>
          </a:p>
        </p:txBody>
      </p:sp>
      <p:sp>
        <p:nvSpPr>
          <p:cNvPr id="63" name="TextBox 62">
            <a:extLst>
              <a:ext uri="{FF2B5EF4-FFF2-40B4-BE49-F238E27FC236}">
                <a16:creationId xmlns:a16="http://schemas.microsoft.com/office/drawing/2014/main" id="{98448C32-079C-6897-EBA1-E0715D6FAE6C}"/>
              </a:ext>
            </a:extLst>
          </p:cNvPr>
          <p:cNvSpPr txBox="1"/>
          <p:nvPr/>
        </p:nvSpPr>
        <p:spPr bwMode="gray">
          <a:xfrm>
            <a:off x="5097240" y="4601339"/>
            <a:ext cx="821547" cy="338554"/>
          </a:xfrm>
          <a:prstGeom prst="rect">
            <a:avLst/>
          </a:prstGeom>
          <a:noFill/>
        </p:spPr>
        <p:txBody>
          <a:bodyPr wrap="square" lIns="0" tIns="0" rIns="0" bIns="0" rtlCol="0">
            <a:spAutoFit/>
          </a:bodyPr>
          <a:lstStyle/>
          <a:p>
            <a:r>
              <a:rPr lang="en-US" sz="1100" dirty="0">
                <a:solidFill>
                  <a:srgbClr val="000000"/>
                </a:solidFill>
              </a:rPr>
              <a:t>Traffic management</a:t>
            </a:r>
          </a:p>
        </p:txBody>
      </p:sp>
      <p:sp>
        <p:nvSpPr>
          <p:cNvPr id="448" name="TextBox 447">
            <a:extLst>
              <a:ext uri="{FF2B5EF4-FFF2-40B4-BE49-F238E27FC236}">
                <a16:creationId xmlns:a16="http://schemas.microsoft.com/office/drawing/2014/main" id="{23D8685F-C691-9522-FC91-121F8F2D28BF}"/>
              </a:ext>
            </a:extLst>
          </p:cNvPr>
          <p:cNvSpPr txBox="1"/>
          <p:nvPr/>
        </p:nvSpPr>
        <p:spPr bwMode="gray">
          <a:xfrm>
            <a:off x="6462622" y="4613782"/>
            <a:ext cx="670856" cy="338554"/>
          </a:xfrm>
          <a:prstGeom prst="rect">
            <a:avLst/>
          </a:prstGeom>
          <a:noFill/>
        </p:spPr>
        <p:txBody>
          <a:bodyPr wrap="square" lIns="0" tIns="0" rIns="0" bIns="0" rtlCol="0">
            <a:spAutoFit/>
          </a:bodyPr>
          <a:lstStyle/>
          <a:p>
            <a:pPr algn="ctr"/>
            <a:r>
              <a:rPr lang="en-US" sz="1100" dirty="0">
                <a:solidFill>
                  <a:srgbClr val="000000"/>
                </a:solidFill>
              </a:rPr>
              <a:t>API/event</a:t>
            </a:r>
          </a:p>
          <a:p>
            <a:pPr algn="ctr"/>
            <a:r>
              <a:rPr lang="en-US" sz="1100" dirty="0">
                <a:solidFill>
                  <a:srgbClr val="000000"/>
                </a:solidFill>
              </a:rPr>
              <a:t>monitoring</a:t>
            </a:r>
          </a:p>
        </p:txBody>
      </p:sp>
      <p:sp>
        <p:nvSpPr>
          <p:cNvPr id="450" name="TextBox 449">
            <a:extLst>
              <a:ext uri="{FF2B5EF4-FFF2-40B4-BE49-F238E27FC236}">
                <a16:creationId xmlns:a16="http://schemas.microsoft.com/office/drawing/2014/main" id="{5F39D480-16AA-FDF1-6C5E-AA9EECF6F423}"/>
              </a:ext>
            </a:extLst>
          </p:cNvPr>
          <p:cNvSpPr txBox="1"/>
          <p:nvPr/>
        </p:nvSpPr>
        <p:spPr bwMode="gray">
          <a:xfrm>
            <a:off x="7551252" y="4698658"/>
            <a:ext cx="1154710" cy="169277"/>
          </a:xfrm>
          <a:prstGeom prst="rect">
            <a:avLst/>
          </a:prstGeom>
          <a:noFill/>
        </p:spPr>
        <p:txBody>
          <a:bodyPr wrap="square" lIns="0" tIns="0" rIns="0" bIns="0" rtlCol="0">
            <a:spAutoFit/>
          </a:bodyPr>
          <a:lstStyle/>
          <a:p>
            <a:pPr algn="ctr"/>
            <a:r>
              <a:rPr lang="en-US" sz="1100" dirty="0">
                <a:solidFill>
                  <a:srgbClr val="000000"/>
                </a:solidFill>
              </a:rPr>
              <a:t>Transformation</a:t>
            </a:r>
          </a:p>
        </p:txBody>
      </p:sp>
      <p:sp>
        <p:nvSpPr>
          <p:cNvPr id="451" name="TextBox 450">
            <a:extLst>
              <a:ext uri="{FF2B5EF4-FFF2-40B4-BE49-F238E27FC236}">
                <a16:creationId xmlns:a16="http://schemas.microsoft.com/office/drawing/2014/main" id="{5327FED7-C00D-D523-115A-A07513E5058F}"/>
              </a:ext>
            </a:extLst>
          </p:cNvPr>
          <p:cNvSpPr txBox="1"/>
          <p:nvPr/>
        </p:nvSpPr>
        <p:spPr bwMode="gray">
          <a:xfrm>
            <a:off x="3213682" y="4614233"/>
            <a:ext cx="821547" cy="338554"/>
          </a:xfrm>
          <a:prstGeom prst="rect">
            <a:avLst/>
          </a:prstGeom>
          <a:noFill/>
        </p:spPr>
        <p:txBody>
          <a:bodyPr wrap="square" lIns="0" tIns="0" rIns="0" bIns="0" rtlCol="0">
            <a:spAutoFit/>
          </a:bodyPr>
          <a:lstStyle/>
          <a:p>
            <a:r>
              <a:rPr lang="en-US" sz="1100" dirty="0">
                <a:solidFill>
                  <a:srgbClr val="000000"/>
                </a:solidFill>
              </a:rPr>
              <a:t>Access</a:t>
            </a:r>
          </a:p>
          <a:p>
            <a:r>
              <a:rPr lang="en-US" sz="1100" dirty="0">
                <a:solidFill>
                  <a:srgbClr val="000000"/>
                </a:solidFill>
              </a:rPr>
              <a:t>control</a:t>
            </a:r>
          </a:p>
        </p:txBody>
      </p:sp>
      <p:sp>
        <p:nvSpPr>
          <p:cNvPr id="457" name="Rectangle 456">
            <a:extLst>
              <a:ext uri="{FF2B5EF4-FFF2-40B4-BE49-F238E27FC236}">
                <a16:creationId xmlns:a16="http://schemas.microsoft.com/office/drawing/2014/main" id="{986E262F-5A0C-FCDB-554A-AC1FFBBF2F72}"/>
              </a:ext>
            </a:extLst>
          </p:cNvPr>
          <p:cNvSpPr/>
          <p:nvPr/>
        </p:nvSpPr>
        <p:spPr bwMode="gray">
          <a:xfrm>
            <a:off x="1922952" y="5570785"/>
            <a:ext cx="9086004" cy="2050672"/>
          </a:xfrm>
          <a:prstGeom prst="rect">
            <a:avLst/>
          </a:prstGeom>
          <a:noFill/>
          <a:ln w="9525" cap="flat" cmpd="sng" algn="ctr">
            <a:solidFill>
              <a:srgbClr val="002060"/>
            </a:solidFill>
            <a:prstDash val="solid"/>
          </a:ln>
          <a:effectLst/>
        </p:spPr>
        <p:txBody>
          <a:bodyPr rtlCol="0" anchor="ctr"/>
          <a:lstStyle/>
          <a:p>
            <a:pPr algn="ctr" eaLnBrk="0" fontAlgn="base" hangingPunct="0">
              <a:lnSpc>
                <a:spcPct val="90000"/>
              </a:lnSpc>
              <a:spcBef>
                <a:spcPct val="30000"/>
              </a:spcBef>
              <a:spcAft>
                <a:spcPct val="10000"/>
              </a:spcAft>
              <a:defRPr/>
            </a:pPr>
            <a:endParaRPr lang="en-US" sz="1400" kern="0" dirty="0">
              <a:solidFill>
                <a:srgbClr val="FFFFFF"/>
              </a:solidFill>
              <a:ea typeface="Arial Unicode MS"/>
              <a:cs typeface="Arial Unicode MS"/>
            </a:endParaRPr>
          </a:p>
        </p:txBody>
      </p:sp>
      <p:cxnSp>
        <p:nvCxnSpPr>
          <p:cNvPr id="6" name="Connector: Elbow 5">
            <a:extLst>
              <a:ext uri="{FF2B5EF4-FFF2-40B4-BE49-F238E27FC236}">
                <a16:creationId xmlns:a16="http://schemas.microsoft.com/office/drawing/2014/main" id="{B9754384-D15B-2334-6C15-291B70DF01DC}"/>
              </a:ext>
            </a:extLst>
          </p:cNvPr>
          <p:cNvCxnSpPr>
            <a:cxnSpLocks/>
          </p:cNvCxnSpPr>
          <p:nvPr/>
        </p:nvCxnSpPr>
        <p:spPr>
          <a:xfrm rot="10800000">
            <a:off x="2021238" y="6200717"/>
            <a:ext cx="1" cy="727530"/>
          </a:xfrm>
          <a:prstGeom prst="bentConnector3">
            <a:avLst>
              <a:gd name="adj1" fmla="val 22860100000"/>
            </a:avLst>
          </a:prstGeom>
          <a:ln w="19050">
            <a:solidFill>
              <a:srgbClr val="009AD7"/>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502" name="Rectangle 501">
            <a:extLst>
              <a:ext uri="{FF2B5EF4-FFF2-40B4-BE49-F238E27FC236}">
                <a16:creationId xmlns:a16="http://schemas.microsoft.com/office/drawing/2014/main" id="{C4CFFB62-A4E0-8B42-E0E2-077ABFB0D763}"/>
              </a:ext>
            </a:extLst>
          </p:cNvPr>
          <p:cNvSpPr/>
          <p:nvPr/>
        </p:nvSpPr>
        <p:spPr bwMode="gray">
          <a:xfrm>
            <a:off x="2015797" y="5962854"/>
            <a:ext cx="6421401" cy="412384"/>
          </a:xfrm>
          <a:prstGeom prst="rect">
            <a:avLst/>
          </a:prstGeom>
          <a:noFill/>
          <a:ln w="9525" cap="flat" cmpd="sng" algn="ctr">
            <a:solidFill>
              <a:srgbClr val="002060"/>
            </a:solidFill>
            <a:prstDash val="solid"/>
          </a:ln>
          <a:effectLst/>
        </p:spPr>
        <p:txBody>
          <a:bodyPr rtlCol="0" anchor="ctr"/>
          <a:lstStyle/>
          <a:p>
            <a:pPr algn="ctr" eaLnBrk="0" fontAlgn="base" hangingPunct="0">
              <a:lnSpc>
                <a:spcPct val="90000"/>
              </a:lnSpc>
              <a:spcBef>
                <a:spcPct val="30000"/>
              </a:spcBef>
              <a:spcAft>
                <a:spcPct val="10000"/>
              </a:spcAft>
              <a:defRPr/>
            </a:pPr>
            <a:endParaRPr lang="en-US" sz="1400" kern="0" dirty="0">
              <a:solidFill>
                <a:srgbClr val="FFFFFF"/>
              </a:solidFill>
              <a:ea typeface="Arial Unicode MS"/>
              <a:cs typeface="Arial Unicode MS"/>
            </a:endParaRPr>
          </a:p>
        </p:txBody>
      </p:sp>
      <p:sp>
        <p:nvSpPr>
          <p:cNvPr id="503" name="Rectangle 502">
            <a:extLst>
              <a:ext uri="{FF2B5EF4-FFF2-40B4-BE49-F238E27FC236}">
                <a16:creationId xmlns:a16="http://schemas.microsoft.com/office/drawing/2014/main" id="{72ADB62B-E6F7-1AA7-248D-508DFACDCA2D}"/>
              </a:ext>
            </a:extLst>
          </p:cNvPr>
          <p:cNvSpPr/>
          <p:nvPr/>
        </p:nvSpPr>
        <p:spPr bwMode="gray">
          <a:xfrm>
            <a:off x="2015797" y="5965542"/>
            <a:ext cx="827327" cy="409697"/>
          </a:xfrm>
          <a:prstGeom prst="rect">
            <a:avLst/>
          </a:prstGeom>
          <a:solidFill>
            <a:srgbClr val="002856"/>
          </a:solidFill>
          <a:ln w="25400" cap="flat" cmpd="sng" algn="ctr">
            <a:noFill/>
            <a:prstDash val="solid"/>
          </a:ln>
          <a:effectLst/>
        </p:spPr>
        <p:txBody>
          <a:bodyPr rtlCol="0" anchor="ctr"/>
          <a:lstStyle/>
          <a:p>
            <a:pPr algn="ctr" eaLnBrk="0" fontAlgn="base" hangingPunct="0">
              <a:lnSpc>
                <a:spcPct val="90000"/>
              </a:lnSpc>
              <a:spcBef>
                <a:spcPct val="30000"/>
              </a:spcBef>
              <a:spcAft>
                <a:spcPct val="10000"/>
              </a:spcAft>
              <a:defRPr/>
            </a:pPr>
            <a:r>
              <a:rPr lang="en-US" sz="1100" b="1" kern="0" dirty="0">
                <a:solidFill>
                  <a:srgbClr val="FFFFFF"/>
                </a:solidFill>
                <a:ea typeface="Arial Unicode MS"/>
                <a:cs typeface="Arial Unicode MS"/>
              </a:rPr>
              <a:t>Inner APIs</a:t>
            </a:r>
          </a:p>
        </p:txBody>
      </p:sp>
      <p:sp>
        <p:nvSpPr>
          <p:cNvPr id="3" name="TextBox 2">
            <a:extLst>
              <a:ext uri="{FF2B5EF4-FFF2-40B4-BE49-F238E27FC236}">
                <a16:creationId xmlns:a16="http://schemas.microsoft.com/office/drawing/2014/main" id="{265267EE-62BD-DF49-13B0-690AAC0CE9AA}"/>
              </a:ext>
            </a:extLst>
          </p:cNvPr>
          <p:cNvSpPr txBox="1"/>
          <p:nvPr/>
        </p:nvSpPr>
        <p:spPr bwMode="gray">
          <a:xfrm>
            <a:off x="6456105" y="6939552"/>
            <a:ext cx="975775" cy="430887"/>
          </a:xfrm>
          <a:prstGeom prst="rect">
            <a:avLst/>
          </a:prstGeom>
          <a:noFill/>
        </p:spPr>
        <p:txBody>
          <a:bodyPr wrap="square" rtlCol="0">
            <a:spAutoFit/>
          </a:bodyPr>
          <a:lstStyle/>
          <a:p>
            <a:r>
              <a:rPr lang="en-US" sz="1100" dirty="0"/>
              <a:t>Legacy applications</a:t>
            </a:r>
          </a:p>
        </p:txBody>
      </p:sp>
      <p:sp>
        <p:nvSpPr>
          <p:cNvPr id="7" name="TextBox 6">
            <a:extLst>
              <a:ext uri="{FF2B5EF4-FFF2-40B4-BE49-F238E27FC236}">
                <a16:creationId xmlns:a16="http://schemas.microsoft.com/office/drawing/2014/main" id="{46ABD9D7-4E20-D4C5-A39F-A4E514D04275}"/>
              </a:ext>
            </a:extLst>
          </p:cNvPr>
          <p:cNvSpPr txBox="1"/>
          <p:nvPr/>
        </p:nvSpPr>
        <p:spPr bwMode="gray">
          <a:xfrm>
            <a:off x="2412789" y="6970178"/>
            <a:ext cx="983435" cy="430887"/>
          </a:xfrm>
          <a:prstGeom prst="rect">
            <a:avLst/>
          </a:prstGeom>
          <a:noFill/>
        </p:spPr>
        <p:txBody>
          <a:bodyPr wrap="square" rtlCol="0">
            <a:spAutoFit/>
          </a:bodyPr>
          <a:lstStyle/>
          <a:p>
            <a:r>
              <a:rPr lang="en-US" sz="1100" dirty="0"/>
              <a:t>Enterprise applications</a:t>
            </a:r>
          </a:p>
        </p:txBody>
      </p:sp>
      <p:sp>
        <p:nvSpPr>
          <p:cNvPr id="11" name="TextBox 10">
            <a:extLst>
              <a:ext uri="{FF2B5EF4-FFF2-40B4-BE49-F238E27FC236}">
                <a16:creationId xmlns:a16="http://schemas.microsoft.com/office/drawing/2014/main" id="{B3FDA7A3-D982-FA9E-CDFB-AD72A804F256}"/>
              </a:ext>
            </a:extLst>
          </p:cNvPr>
          <p:cNvSpPr txBox="1"/>
          <p:nvPr/>
        </p:nvSpPr>
        <p:spPr bwMode="gray">
          <a:xfrm>
            <a:off x="3727848" y="6950614"/>
            <a:ext cx="963399" cy="430887"/>
          </a:xfrm>
          <a:prstGeom prst="rect">
            <a:avLst/>
          </a:prstGeom>
          <a:noFill/>
        </p:spPr>
        <p:txBody>
          <a:bodyPr wrap="square" rtlCol="0">
            <a:spAutoFit/>
          </a:bodyPr>
          <a:lstStyle/>
          <a:p>
            <a:r>
              <a:rPr lang="en-US" sz="1100" dirty="0"/>
              <a:t>SaaS applications</a:t>
            </a:r>
          </a:p>
        </p:txBody>
      </p:sp>
      <p:sp>
        <p:nvSpPr>
          <p:cNvPr id="23" name="TextBox 22">
            <a:extLst>
              <a:ext uri="{FF2B5EF4-FFF2-40B4-BE49-F238E27FC236}">
                <a16:creationId xmlns:a16="http://schemas.microsoft.com/office/drawing/2014/main" id="{65E0A04E-3DE0-E1F5-9482-10BF1FA899A9}"/>
              </a:ext>
            </a:extLst>
          </p:cNvPr>
          <p:cNvSpPr txBox="1"/>
          <p:nvPr/>
        </p:nvSpPr>
        <p:spPr bwMode="gray">
          <a:xfrm>
            <a:off x="4862786" y="6956144"/>
            <a:ext cx="1238960" cy="430887"/>
          </a:xfrm>
          <a:prstGeom prst="rect">
            <a:avLst/>
          </a:prstGeom>
          <a:noFill/>
        </p:spPr>
        <p:txBody>
          <a:bodyPr wrap="square" rIns="0" rtlCol="0">
            <a:spAutoFit/>
          </a:bodyPr>
          <a:lstStyle/>
          <a:p>
            <a:r>
              <a:rPr lang="en-US" sz="1100" dirty="0"/>
              <a:t>Data warehouse/</a:t>
            </a:r>
            <a:br>
              <a:rPr lang="en-US" sz="1100" dirty="0"/>
            </a:br>
            <a:r>
              <a:rPr lang="en-US" sz="1100" dirty="0"/>
              <a:t>virtualization</a:t>
            </a:r>
          </a:p>
        </p:txBody>
      </p:sp>
      <p:sp>
        <p:nvSpPr>
          <p:cNvPr id="31" name="TextBox 30">
            <a:extLst>
              <a:ext uri="{FF2B5EF4-FFF2-40B4-BE49-F238E27FC236}">
                <a16:creationId xmlns:a16="http://schemas.microsoft.com/office/drawing/2014/main" id="{8FAB37EC-9F93-4240-045E-2CB7DAB3D3A1}"/>
              </a:ext>
            </a:extLst>
          </p:cNvPr>
          <p:cNvSpPr txBox="1"/>
          <p:nvPr/>
        </p:nvSpPr>
        <p:spPr bwMode="gray">
          <a:xfrm>
            <a:off x="2422424" y="6544280"/>
            <a:ext cx="824490" cy="430887"/>
          </a:xfrm>
          <a:prstGeom prst="rect">
            <a:avLst/>
          </a:prstGeom>
          <a:noFill/>
        </p:spPr>
        <p:txBody>
          <a:bodyPr wrap="square" rIns="0" rtlCol="0">
            <a:spAutoFit/>
          </a:bodyPr>
          <a:lstStyle/>
          <a:p>
            <a:r>
              <a:rPr lang="en-US" sz="1100" dirty="0">
                <a:solidFill>
                  <a:srgbClr val="000000"/>
                </a:solidFill>
              </a:rPr>
              <a:t>Custom</a:t>
            </a:r>
          </a:p>
          <a:p>
            <a:r>
              <a:rPr lang="en-US" sz="1100" dirty="0">
                <a:solidFill>
                  <a:srgbClr val="000000"/>
                </a:solidFill>
              </a:rPr>
              <a:t>services</a:t>
            </a:r>
          </a:p>
        </p:txBody>
      </p:sp>
      <p:sp>
        <p:nvSpPr>
          <p:cNvPr id="35" name="Rectangle 34">
            <a:extLst>
              <a:ext uri="{FF2B5EF4-FFF2-40B4-BE49-F238E27FC236}">
                <a16:creationId xmlns:a16="http://schemas.microsoft.com/office/drawing/2014/main" id="{6C323F6D-B126-53B9-960F-C6467E7819E9}"/>
              </a:ext>
            </a:extLst>
          </p:cNvPr>
          <p:cNvSpPr/>
          <p:nvPr/>
        </p:nvSpPr>
        <p:spPr bwMode="gray">
          <a:xfrm>
            <a:off x="2026677" y="6550155"/>
            <a:ext cx="6410524" cy="825471"/>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6" name="Freeform: Shape 18">
            <a:extLst>
              <a:ext uri="{FF2B5EF4-FFF2-40B4-BE49-F238E27FC236}">
                <a16:creationId xmlns:a16="http://schemas.microsoft.com/office/drawing/2014/main" id="{70576666-E62F-470B-FE80-AE77DFB17C1E}"/>
              </a:ext>
            </a:extLst>
          </p:cNvPr>
          <p:cNvSpPr>
            <a:spLocks noChangeAspect="1"/>
          </p:cNvSpPr>
          <p:nvPr/>
        </p:nvSpPr>
        <p:spPr bwMode="gray">
          <a:xfrm>
            <a:off x="3488492" y="7052255"/>
            <a:ext cx="239516" cy="146205"/>
          </a:xfrm>
          <a:custGeom>
            <a:avLst/>
            <a:gdLst>
              <a:gd name="connsiteX0" fmla="*/ 507778 w 581025"/>
              <a:gd name="connsiteY0" fmla="*/ 155448 h 371475"/>
              <a:gd name="connsiteX1" fmla="*/ 399002 w 581025"/>
              <a:gd name="connsiteY1" fmla="*/ 51340 h 371475"/>
              <a:gd name="connsiteX2" fmla="*/ 355759 w 581025"/>
              <a:gd name="connsiteY2" fmla="*/ 60293 h 371475"/>
              <a:gd name="connsiteX3" fmla="*/ 239839 w 581025"/>
              <a:gd name="connsiteY3" fmla="*/ 7144 h 371475"/>
              <a:gd name="connsiteX4" fmla="*/ 88582 w 581025"/>
              <a:gd name="connsiteY4" fmla="*/ 136684 h 371475"/>
              <a:gd name="connsiteX5" fmla="*/ 7144 w 581025"/>
              <a:gd name="connsiteY5" fmla="*/ 248698 h 371475"/>
              <a:gd name="connsiteX6" fmla="*/ 124873 w 581025"/>
              <a:gd name="connsiteY6" fmla="*/ 366427 h 371475"/>
              <a:gd name="connsiteX7" fmla="*/ 469773 w 581025"/>
              <a:gd name="connsiteY7" fmla="*/ 366427 h 371475"/>
              <a:gd name="connsiteX8" fmla="*/ 578644 w 581025"/>
              <a:gd name="connsiteY8" fmla="*/ 257556 h 371475"/>
              <a:gd name="connsiteX9" fmla="*/ 507778 w 581025"/>
              <a:gd name="connsiteY9" fmla="*/ 155448 h 371475"/>
              <a:gd name="connsiteX10" fmla="*/ 469773 w 581025"/>
              <a:gd name="connsiteY10" fmla="*/ 328232 h 371475"/>
              <a:gd name="connsiteX11" fmla="*/ 124873 w 581025"/>
              <a:gd name="connsiteY11" fmla="*/ 328232 h 371475"/>
              <a:gd name="connsiteX12" fmla="*/ 45244 w 581025"/>
              <a:gd name="connsiteY12" fmla="*/ 248603 h 371475"/>
              <a:gd name="connsiteX13" fmla="*/ 124873 w 581025"/>
              <a:gd name="connsiteY13" fmla="*/ 168974 h 371475"/>
              <a:gd name="connsiteX14" fmla="*/ 125349 w 581025"/>
              <a:gd name="connsiteY14" fmla="*/ 168974 h 371475"/>
              <a:gd name="connsiteX15" fmla="*/ 124873 w 581025"/>
              <a:gd name="connsiteY15" fmla="*/ 160115 h 371475"/>
              <a:gd name="connsiteX16" fmla="*/ 239839 w 581025"/>
              <a:gd name="connsiteY16" fmla="*/ 45149 h 371475"/>
              <a:gd name="connsiteX17" fmla="*/ 345281 w 581025"/>
              <a:gd name="connsiteY17" fmla="*/ 114205 h 371475"/>
              <a:gd name="connsiteX18" fmla="*/ 399098 w 581025"/>
              <a:gd name="connsiteY18" fmla="*/ 89345 h 371475"/>
              <a:gd name="connsiteX19" fmla="*/ 469868 w 581025"/>
              <a:gd name="connsiteY19" fmla="*/ 160115 h 371475"/>
              <a:gd name="connsiteX20" fmla="*/ 464534 w 581025"/>
              <a:gd name="connsiteY20" fmla="*/ 186881 h 371475"/>
              <a:gd name="connsiteX21" fmla="*/ 469868 w 581025"/>
              <a:gd name="connsiteY21" fmla="*/ 186595 h 371475"/>
              <a:gd name="connsiteX22" fmla="*/ 540639 w 581025"/>
              <a:gd name="connsiteY22" fmla="*/ 257365 h 371475"/>
              <a:gd name="connsiteX23" fmla="*/ 469773 w 581025"/>
              <a:gd name="connsiteY23" fmla="*/ 328232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1025" h="371475">
                <a:moveTo>
                  <a:pt x="507778" y="155448"/>
                </a:moveTo>
                <a:cubicBezTo>
                  <a:pt x="505301" y="97631"/>
                  <a:pt x="457485" y="51340"/>
                  <a:pt x="399002" y="51340"/>
                </a:cubicBezTo>
                <a:cubicBezTo>
                  <a:pt x="383953" y="51340"/>
                  <a:pt x="369284" y="54483"/>
                  <a:pt x="355759" y="60293"/>
                </a:cubicBezTo>
                <a:cubicBezTo>
                  <a:pt x="327184" y="27051"/>
                  <a:pt x="285083" y="7144"/>
                  <a:pt x="239839" y="7144"/>
                </a:cubicBezTo>
                <a:cubicBezTo>
                  <a:pt x="163449" y="7144"/>
                  <a:pt x="99917" y="63437"/>
                  <a:pt x="88582" y="136684"/>
                </a:cubicBezTo>
                <a:cubicBezTo>
                  <a:pt x="41434" y="152019"/>
                  <a:pt x="7144" y="196406"/>
                  <a:pt x="7144" y="248698"/>
                </a:cubicBezTo>
                <a:cubicBezTo>
                  <a:pt x="7144" y="313563"/>
                  <a:pt x="59912" y="366427"/>
                  <a:pt x="124873" y="366427"/>
                </a:cubicBezTo>
                <a:lnTo>
                  <a:pt x="469773" y="366427"/>
                </a:lnTo>
                <a:cubicBezTo>
                  <a:pt x="529780" y="366427"/>
                  <a:pt x="578644" y="317564"/>
                  <a:pt x="578644" y="257556"/>
                </a:cubicBezTo>
                <a:cubicBezTo>
                  <a:pt x="578644" y="210788"/>
                  <a:pt x="549117" y="170879"/>
                  <a:pt x="507778" y="155448"/>
                </a:cubicBezTo>
                <a:close/>
                <a:moveTo>
                  <a:pt x="469773" y="328232"/>
                </a:moveTo>
                <a:lnTo>
                  <a:pt x="124873" y="328232"/>
                </a:lnTo>
                <a:cubicBezTo>
                  <a:pt x="80867" y="328232"/>
                  <a:pt x="45244" y="292608"/>
                  <a:pt x="45244" y="248603"/>
                </a:cubicBezTo>
                <a:cubicBezTo>
                  <a:pt x="45244" y="204597"/>
                  <a:pt x="80867" y="168974"/>
                  <a:pt x="124873" y="168974"/>
                </a:cubicBezTo>
                <a:cubicBezTo>
                  <a:pt x="125063" y="168974"/>
                  <a:pt x="125158" y="168974"/>
                  <a:pt x="125349" y="168974"/>
                </a:cubicBezTo>
                <a:cubicBezTo>
                  <a:pt x="125158" y="166021"/>
                  <a:pt x="124873" y="163068"/>
                  <a:pt x="124873" y="160115"/>
                </a:cubicBezTo>
                <a:cubicBezTo>
                  <a:pt x="124873" y="96584"/>
                  <a:pt x="176308" y="45149"/>
                  <a:pt x="239839" y="45149"/>
                </a:cubicBezTo>
                <a:cubicBezTo>
                  <a:pt x="286988" y="45149"/>
                  <a:pt x="327470" y="73628"/>
                  <a:pt x="345281" y="114205"/>
                </a:cubicBezTo>
                <a:cubicBezTo>
                  <a:pt x="358235" y="98965"/>
                  <a:pt x="377571" y="89345"/>
                  <a:pt x="399098" y="89345"/>
                </a:cubicBezTo>
                <a:cubicBezTo>
                  <a:pt x="438150" y="89345"/>
                  <a:pt x="469868" y="121063"/>
                  <a:pt x="469868" y="160115"/>
                </a:cubicBezTo>
                <a:cubicBezTo>
                  <a:pt x="469868" y="169640"/>
                  <a:pt x="467963" y="178689"/>
                  <a:pt x="464534" y="186881"/>
                </a:cubicBezTo>
                <a:cubicBezTo>
                  <a:pt x="466249" y="186785"/>
                  <a:pt x="468059" y="186595"/>
                  <a:pt x="469868" y="186595"/>
                </a:cubicBezTo>
                <a:cubicBezTo>
                  <a:pt x="508921" y="186595"/>
                  <a:pt x="540639" y="218313"/>
                  <a:pt x="540639" y="257365"/>
                </a:cubicBezTo>
                <a:cubicBezTo>
                  <a:pt x="540544" y="296513"/>
                  <a:pt x="508921" y="328232"/>
                  <a:pt x="469773" y="328232"/>
                </a:cubicBezTo>
                <a:close/>
              </a:path>
            </a:pathLst>
          </a:custGeom>
          <a:solidFill>
            <a:srgbClr val="002856"/>
          </a:solidFill>
          <a:ln w="9525" cap="flat">
            <a:noFill/>
            <a:prstDash val="solid"/>
            <a:miter/>
          </a:ln>
        </p:spPr>
        <p:txBody>
          <a:bodyPr rtlCol="0" anchor="ctr"/>
          <a:lstStyle/>
          <a:p>
            <a:pPr>
              <a:buClr>
                <a:srgbClr val="000000"/>
              </a:buClr>
              <a:buFont typeface="Arial"/>
              <a:buNone/>
            </a:pPr>
            <a:endParaRPr lang="en-US" sz="800" kern="0" dirty="0">
              <a:solidFill>
                <a:srgbClr val="000000"/>
              </a:solidFill>
              <a:cs typeface="Arial"/>
              <a:sym typeface="Arial"/>
            </a:endParaRPr>
          </a:p>
        </p:txBody>
      </p:sp>
      <p:sp>
        <p:nvSpPr>
          <p:cNvPr id="62" name="Freeform: Shape 210">
            <a:extLst>
              <a:ext uri="{FF2B5EF4-FFF2-40B4-BE49-F238E27FC236}">
                <a16:creationId xmlns:a16="http://schemas.microsoft.com/office/drawing/2014/main" id="{66BCC80F-EE08-B041-9092-234F1F849856}"/>
              </a:ext>
            </a:extLst>
          </p:cNvPr>
          <p:cNvSpPr>
            <a:spLocks noChangeAspect="1"/>
          </p:cNvSpPr>
          <p:nvPr/>
        </p:nvSpPr>
        <p:spPr bwMode="gray">
          <a:xfrm>
            <a:off x="2224276" y="6598483"/>
            <a:ext cx="211333" cy="201773"/>
          </a:xfrm>
          <a:custGeom>
            <a:avLst/>
            <a:gdLst>
              <a:gd name="connsiteX0" fmla="*/ 502444 w 542925"/>
              <a:gd name="connsiteY0" fmla="*/ 207169 h 542925"/>
              <a:gd name="connsiteX1" fmla="*/ 472345 w 542925"/>
              <a:gd name="connsiteY1" fmla="*/ 207169 h 542925"/>
              <a:gd name="connsiteX2" fmla="*/ 461391 w 542925"/>
              <a:gd name="connsiteY2" fmla="*/ 180594 h 542925"/>
              <a:gd name="connsiteX3" fmla="*/ 482632 w 542925"/>
              <a:gd name="connsiteY3" fmla="*/ 159353 h 542925"/>
              <a:gd name="connsiteX4" fmla="*/ 509588 w 542925"/>
              <a:gd name="connsiteY4" fmla="*/ 132398 h 542925"/>
              <a:gd name="connsiteX5" fmla="*/ 482632 w 542925"/>
              <a:gd name="connsiteY5" fmla="*/ 105442 h 542925"/>
              <a:gd name="connsiteX6" fmla="*/ 442246 w 542925"/>
              <a:gd name="connsiteY6" fmla="*/ 65056 h 542925"/>
              <a:gd name="connsiteX7" fmla="*/ 415290 w 542925"/>
              <a:gd name="connsiteY7" fmla="*/ 38100 h 542925"/>
              <a:gd name="connsiteX8" fmla="*/ 388334 w 542925"/>
              <a:gd name="connsiteY8" fmla="*/ 65056 h 542925"/>
              <a:gd name="connsiteX9" fmla="*/ 367094 w 542925"/>
              <a:gd name="connsiteY9" fmla="*/ 86297 h 542925"/>
              <a:gd name="connsiteX10" fmla="*/ 340519 w 542925"/>
              <a:gd name="connsiteY10" fmla="*/ 75343 h 542925"/>
              <a:gd name="connsiteX11" fmla="*/ 340519 w 542925"/>
              <a:gd name="connsiteY11" fmla="*/ 45244 h 542925"/>
              <a:gd name="connsiteX12" fmla="*/ 340519 w 542925"/>
              <a:gd name="connsiteY12" fmla="*/ 7144 h 542925"/>
              <a:gd name="connsiteX13" fmla="*/ 302419 w 542925"/>
              <a:gd name="connsiteY13" fmla="*/ 7144 h 542925"/>
              <a:gd name="connsiteX14" fmla="*/ 245269 w 542925"/>
              <a:gd name="connsiteY14" fmla="*/ 7144 h 542925"/>
              <a:gd name="connsiteX15" fmla="*/ 207169 w 542925"/>
              <a:gd name="connsiteY15" fmla="*/ 7144 h 542925"/>
              <a:gd name="connsiteX16" fmla="*/ 207169 w 542925"/>
              <a:gd name="connsiteY16" fmla="*/ 45244 h 542925"/>
              <a:gd name="connsiteX17" fmla="*/ 207169 w 542925"/>
              <a:gd name="connsiteY17" fmla="*/ 75343 h 542925"/>
              <a:gd name="connsiteX18" fmla="*/ 180594 w 542925"/>
              <a:gd name="connsiteY18" fmla="*/ 86297 h 542925"/>
              <a:gd name="connsiteX19" fmla="*/ 159353 w 542925"/>
              <a:gd name="connsiteY19" fmla="*/ 65056 h 542925"/>
              <a:gd name="connsiteX20" fmla="*/ 132398 w 542925"/>
              <a:gd name="connsiteY20" fmla="*/ 38100 h 542925"/>
              <a:gd name="connsiteX21" fmla="*/ 105442 w 542925"/>
              <a:gd name="connsiteY21" fmla="*/ 65056 h 542925"/>
              <a:gd name="connsiteX22" fmla="*/ 65056 w 542925"/>
              <a:gd name="connsiteY22" fmla="*/ 105442 h 542925"/>
              <a:gd name="connsiteX23" fmla="*/ 38100 w 542925"/>
              <a:gd name="connsiteY23" fmla="*/ 132398 h 542925"/>
              <a:gd name="connsiteX24" fmla="*/ 65056 w 542925"/>
              <a:gd name="connsiteY24" fmla="*/ 159353 h 542925"/>
              <a:gd name="connsiteX25" fmla="*/ 86297 w 542925"/>
              <a:gd name="connsiteY25" fmla="*/ 180594 h 542925"/>
              <a:gd name="connsiteX26" fmla="*/ 75343 w 542925"/>
              <a:gd name="connsiteY26" fmla="*/ 207169 h 542925"/>
              <a:gd name="connsiteX27" fmla="*/ 45244 w 542925"/>
              <a:gd name="connsiteY27" fmla="*/ 207169 h 542925"/>
              <a:gd name="connsiteX28" fmla="*/ 7144 w 542925"/>
              <a:gd name="connsiteY28" fmla="*/ 207169 h 542925"/>
              <a:gd name="connsiteX29" fmla="*/ 7144 w 542925"/>
              <a:gd name="connsiteY29" fmla="*/ 245269 h 542925"/>
              <a:gd name="connsiteX30" fmla="*/ 7144 w 542925"/>
              <a:gd name="connsiteY30" fmla="*/ 302419 h 542925"/>
              <a:gd name="connsiteX31" fmla="*/ 7144 w 542925"/>
              <a:gd name="connsiteY31" fmla="*/ 340519 h 542925"/>
              <a:gd name="connsiteX32" fmla="*/ 45244 w 542925"/>
              <a:gd name="connsiteY32" fmla="*/ 340519 h 542925"/>
              <a:gd name="connsiteX33" fmla="*/ 75343 w 542925"/>
              <a:gd name="connsiteY33" fmla="*/ 340519 h 542925"/>
              <a:gd name="connsiteX34" fmla="*/ 86297 w 542925"/>
              <a:gd name="connsiteY34" fmla="*/ 367094 h 542925"/>
              <a:gd name="connsiteX35" fmla="*/ 65056 w 542925"/>
              <a:gd name="connsiteY35" fmla="*/ 388334 h 542925"/>
              <a:gd name="connsiteX36" fmla="*/ 38100 w 542925"/>
              <a:gd name="connsiteY36" fmla="*/ 415290 h 542925"/>
              <a:gd name="connsiteX37" fmla="*/ 65056 w 542925"/>
              <a:gd name="connsiteY37" fmla="*/ 442246 h 542925"/>
              <a:gd name="connsiteX38" fmla="*/ 105442 w 542925"/>
              <a:gd name="connsiteY38" fmla="*/ 482632 h 542925"/>
              <a:gd name="connsiteX39" fmla="*/ 132398 w 542925"/>
              <a:gd name="connsiteY39" fmla="*/ 509588 h 542925"/>
              <a:gd name="connsiteX40" fmla="*/ 159353 w 542925"/>
              <a:gd name="connsiteY40" fmla="*/ 482632 h 542925"/>
              <a:gd name="connsiteX41" fmla="*/ 180594 w 542925"/>
              <a:gd name="connsiteY41" fmla="*/ 461391 h 542925"/>
              <a:gd name="connsiteX42" fmla="*/ 207169 w 542925"/>
              <a:gd name="connsiteY42" fmla="*/ 472345 h 542925"/>
              <a:gd name="connsiteX43" fmla="*/ 207169 w 542925"/>
              <a:gd name="connsiteY43" fmla="*/ 502444 h 542925"/>
              <a:gd name="connsiteX44" fmla="*/ 207169 w 542925"/>
              <a:gd name="connsiteY44" fmla="*/ 540544 h 542925"/>
              <a:gd name="connsiteX45" fmla="*/ 245269 w 542925"/>
              <a:gd name="connsiteY45" fmla="*/ 540544 h 542925"/>
              <a:gd name="connsiteX46" fmla="*/ 302419 w 542925"/>
              <a:gd name="connsiteY46" fmla="*/ 540544 h 542925"/>
              <a:gd name="connsiteX47" fmla="*/ 340519 w 542925"/>
              <a:gd name="connsiteY47" fmla="*/ 540544 h 542925"/>
              <a:gd name="connsiteX48" fmla="*/ 340519 w 542925"/>
              <a:gd name="connsiteY48" fmla="*/ 502444 h 542925"/>
              <a:gd name="connsiteX49" fmla="*/ 340519 w 542925"/>
              <a:gd name="connsiteY49" fmla="*/ 472345 h 542925"/>
              <a:gd name="connsiteX50" fmla="*/ 367094 w 542925"/>
              <a:gd name="connsiteY50" fmla="*/ 461391 h 542925"/>
              <a:gd name="connsiteX51" fmla="*/ 388334 w 542925"/>
              <a:gd name="connsiteY51" fmla="*/ 482632 h 542925"/>
              <a:gd name="connsiteX52" fmla="*/ 415290 w 542925"/>
              <a:gd name="connsiteY52" fmla="*/ 509588 h 542925"/>
              <a:gd name="connsiteX53" fmla="*/ 442246 w 542925"/>
              <a:gd name="connsiteY53" fmla="*/ 482632 h 542925"/>
              <a:gd name="connsiteX54" fmla="*/ 482632 w 542925"/>
              <a:gd name="connsiteY54" fmla="*/ 442246 h 542925"/>
              <a:gd name="connsiteX55" fmla="*/ 509588 w 542925"/>
              <a:gd name="connsiteY55" fmla="*/ 415290 h 542925"/>
              <a:gd name="connsiteX56" fmla="*/ 482632 w 542925"/>
              <a:gd name="connsiteY56" fmla="*/ 388334 h 542925"/>
              <a:gd name="connsiteX57" fmla="*/ 461391 w 542925"/>
              <a:gd name="connsiteY57" fmla="*/ 367094 h 542925"/>
              <a:gd name="connsiteX58" fmla="*/ 472345 w 542925"/>
              <a:gd name="connsiteY58" fmla="*/ 340519 h 542925"/>
              <a:gd name="connsiteX59" fmla="*/ 502444 w 542925"/>
              <a:gd name="connsiteY59" fmla="*/ 340519 h 542925"/>
              <a:gd name="connsiteX60" fmla="*/ 540544 w 542925"/>
              <a:gd name="connsiteY60" fmla="*/ 340519 h 542925"/>
              <a:gd name="connsiteX61" fmla="*/ 540544 w 542925"/>
              <a:gd name="connsiteY61" fmla="*/ 302419 h 542925"/>
              <a:gd name="connsiteX62" fmla="*/ 540544 w 542925"/>
              <a:gd name="connsiteY62" fmla="*/ 245269 h 542925"/>
              <a:gd name="connsiteX63" fmla="*/ 540544 w 542925"/>
              <a:gd name="connsiteY63" fmla="*/ 207169 h 542925"/>
              <a:gd name="connsiteX64" fmla="*/ 502444 w 542925"/>
              <a:gd name="connsiteY64" fmla="*/ 207169 h 542925"/>
              <a:gd name="connsiteX65" fmla="*/ 502444 w 542925"/>
              <a:gd name="connsiteY65" fmla="*/ 302419 h 542925"/>
              <a:gd name="connsiteX66" fmla="*/ 442722 w 542925"/>
              <a:gd name="connsiteY66" fmla="*/ 302419 h 542925"/>
              <a:gd name="connsiteX67" fmla="*/ 413480 w 542925"/>
              <a:gd name="connsiteY67" fmla="*/ 373094 h 542925"/>
              <a:gd name="connsiteX68" fmla="*/ 455676 w 542925"/>
              <a:gd name="connsiteY68" fmla="*/ 415290 h 542925"/>
              <a:gd name="connsiteX69" fmla="*/ 415290 w 542925"/>
              <a:gd name="connsiteY69" fmla="*/ 455676 h 542925"/>
              <a:gd name="connsiteX70" fmla="*/ 373094 w 542925"/>
              <a:gd name="connsiteY70" fmla="*/ 413480 h 542925"/>
              <a:gd name="connsiteX71" fmla="*/ 302419 w 542925"/>
              <a:gd name="connsiteY71" fmla="*/ 442722 h 542925"/>
              <a:gd name="connsiteX72" fmla="*/ 302419 w 542925"/>
              <a:gd name="connsiteY72" fmla="*/ 502444 h 542925"/>
              <a:gd name="connsiteX73" fmla="*/ 245269 w 542925"/>
              <a:gd name="connsiteY73" fmla="*/ 502444 h 542925"/>
              <a:gd name="connsiteX74" fmla="*/ 245269 w 542925"/>
              <a:gd name="connsiteY74" fmla="*/ 442722 h 542925"/>
              <a:gd name="connsiteX75" fmla="*/ 174593 w 542925"/>
              <a:gd name="connsiteY75" fmla="*/ 413480 h 542925"/>
              <a:gd name="connsiteX76" fmla="*/ 132398 w 542925"/>
              <a:gd name="connsiteY76" fmla="*/ 455676 h 542925"/>
              <a:gd name="connsiteX77" fmla="*/ 92012 w 542925"/>
              <a:gd name="connsiteY77" fmla="*/ 415290 h 542925"/>
              <a:gd name="connsiteX78" fmla="*/ 134207 w 542925"/>
              <a:gd name="connsiteY78" fmla="*/ 373094 h 542925"/>
              <a:gd name="connsiteX79" fmla="*/ 104966 w 542925"/>
              <a:gd name="connsiteY79" fmla="*/ 302419 h 542925"/>
              <a:gd name="connsiteX80" fmla="*/ 45244 w 542925"/>
              <a:gd name="connsiteY80" fmla="*/ 302419 h 542925"/>
              <a:gd name="connsiteX81" fmla="*/ 45244 w 542925"/>
              <a:gd name="connsiteY81" fmla="*/ 245269 h 542925"/>
              <a:gd name="connsiteX82" fmla="*/ 104966 w 542925"/>
              <a:gd name="connsiteY82" fmla="*/ 245269 h 542925"/>
              <a:gd name="connsiteX83" fmla="*/ 134207 w 542925"/>
              <a:gd name="connsiteY83" fmla="*/ 174593 h 542925"/>
              <a:gd name="connsiteX84" fmla="*/ 92012 w 542925"/>
              <a:gd name="connsiteY84" fmla="*/ 132398 h 542925"/>
              <a:gd name="connsiteX85" fmla="*/ 132398 w 542925"/>
              <a:gd name="connsiteY85" fmla="*/ 92012 h 542925"/>
              <a:gd name="connsiteX86" fmla="*/ 174593 w 542925"/>
              <a:gd name="connsiteY86" fmla="*/ 134207 h 542925"/>
              <a:gd name="connsiteX87" fmla="*/ 245269 w 542925"/>
              <a:gd name="connsiteY87" fmla="*/ 104966 h 542925"/>
              <a:gd name="connsiteX88" fmla="*/ 245269 w 542925"/>
              <a:gd name="connsiteY88" fmla="*/ 45244 h 542925"/>
              <a:gd name="connsiteX89" fmla="*/ 302419 w 542925"/>
              <a:gd name="connsiteY89" fmla="*/ 45244 h 542925"/>
              <a:gd name="connsiteX90" fmla="*/ 302419 w 542925"/>
              <a:gd name="connsiteY90" fmla="*/ 104966 h 542925"/>
              <a:gd name="connsiteX91" fmla="*/ 373094 w 542925"/>
              <a:gd name="connsiteY91" fmla="*/ 134207 h 542925"/>
              <a:gd name="connsiteX92" fmla="*/ 415290 w 542925"/>
              <a:gd name="connsiteY92" fmla="*/ 92012 h 542925"/>
              <a:gd name="connsiteX93" fmla="*/ 455676 w 542925"/>
              <a:gd name="connsiteY93" fmla="*/ 132398 h 542925"/>
              <a:gd name="connsiteX94" fmla="*/ 413480 w 542925"/>
              <a:gd name="connsiteY94" fmla="*/ 174593 h 542925"/>
              <a:gd name="connsiteX95" fmla="*/ 442722 w 542925"/>
              <a:gd name="connsiteY95" fmla="*/ 245269 h 542925"/>
              <a:gd name="connsiteX96" fmla="*/ 502444 w 542925"/>
              <a:gd name="connsiteY96" fmla="*/ 245269 h 542925"/>
              <a:gd name="connsiteX97" fmla="*/ 502444 w 542925"/>
              <a:gd name="connsiteY97" fmla="*/ 302419 h 542925"/>
              <a:gd name="connsiteX98" fmla="*/ 273844 w 542925"/>
              <a:gd name="connsiteY98" fmla="*/ 150019 h 542925"/>
              <a:gd name="connsiteX99" fmla="*/ 150019 w 542925"/>
              <a:gd name="connsiteY99" fmla="*/ 273844 h 542925"/>
              <a:gd name="connsiteX100" fmla="*/ 273844 w 542925"/>
              <a:gd name="connsiteY100" fmla="*/ 397669 h 542925"/>
              <a:gd name="connsiteX101" fmla="*/ 397669 w 542925"/>
              <a:gd name="connsiteY101" fmla="*/ 273844 h 542925"/>
              <a:gd name="connsiteX102" fmla="*/ 273844 w 542925"/>
              <a:gd name="connsiteY102" fmla="*/ 150019 h 542925"/>
              <a:gd name="connsiteX103" fmla="*/ 273844 w 542925"/>
              <a:gd name="connsiteY103" fmla="*/ 359569 h 542925"/>
              <a:gd name="connsiteX104" fmla="*/ 188119 w 542925"/>
              <a:gd name="connsiteY104" fmla="*/ 273844 h 542925"/>
              <a:gd name="connsiteX105" fmla="*/ 273844 w 542925"/>
              <a:gd name="connsiteY105" fmla="*/ 188119 h 542925"/>
              <a:gd name="connsiteX106" fmla="*/ 359569 w 542925"/>
              <a:gd name="connsiteY106" fmla="*/ 273844 h 542925"/>
              <a:gd name="connsiteX107" fmla="*/ 273844 w 542925"/>
              <a:gd name="connsiteY107" fmla="*/ 359569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542925" h="542925">
                <a:moveTo>
                  <a:pt x="502444" y="207169"/>
                </a:moveTo>
                <a:lnTo>
                  <a:pt x="472345" y="207169"/>
                </a:lnTo>
                <a:cubicBezTo>
                  <a:pt x="469297" y="198025"/>
                  <a:pt x="465677" y="189167"/>
                  <a:pt x="461391" y="180594"/>
                </a:cubicBezTo>
                <a:lnTo>
                  <a:pt x="482632" y="159353"/>
                </a:lnTo>
                <a:lnTo>
                  <a:pt x="509588" y="132398"/>
                </a:lnTo>
                <a:lnTo>
                  <a:pt x="482632" y="105442"/>
                </a:lnTo>
                <a:lnTo>
                  <a:pt x="442246" y="65056"/>
                </a:lnTo>
                <a:lnTo>
                  <a:pt x="415290" y="38100"/>
                </a:lnTo>
                <a:lnTo>
                  <a:pt x="388334" y="65056"/>
                </a:lnTo>
                <a:lnTo>
                  <a:pt x="367094" y="86297"/>
                </a:lnTo>
                <a:cubicBezTo>
                  <a:pt x="358521" y="82010"/>
                  <a:pt x="349663" y="78391"/>
                  <a:pt x="340519" y="75343"/>
                </a:cubicBezTo>
                <a:lnTo>
                  <a:pt x="340519" y="45244"/>
                </a:lnTo>
                <a:lnTo>
                  <a:pt x="340519" y="7144"/>
                </a:lnTo>
                <a:lnTo>
                  <a:pt x="302419" y="7144"/>
                </a:lnTo>
                <a:lnTo>
                  <a:pt x="245269" y="7144"/>
                </a:lnTo>
                <a:lnTo>
                  <a:pt x="207169" y="7144"/>
                </a:lnTo>
                <a:lnTo>
                  <a:pt x="207169" y="45244"/>
                </a:lnTo>
                <a:lnTo>
                  <a:pt x="207169" y="75343"/>
                </a:lnTo>
                <a:cubicBezTo>
                  <a:pt x="198025" y="78391"/>
                  <a:pt x="189167" y="82010"/>
                  <a:pt x="180594" y="86297"/>
                </a:cubicBezTo>
                <a:lnTo>
                  <a:pt x="159353" y="65056"/>
                </a:lnTo>
                <a:lnTo>
                  <a:pt x="132398" y="38100"/>
                </a:lnTo>
                <a:lnTo>
                  <a:pt x="105442" y="65056"/>
                </a:lnTo>
                <a:lnTo>
                  <a:pt x="65056" y="105442"/>
                </a:lnTo>
                <a:lnTo>
                  <a:pt x="38100" y="132398"/>
                </a:lnTo>
                <a:lnTo>
                  <a:pt x="65056" y="159353"/>
                </a:lnTo>
                <a:lnTo>
                  <a:pt x="86297" y="180594"/>
                </a:lnTo>
                <a:cubicBezTo>
                  <a:pt x="82010" y="189167"/>
                  <a:pt x="78391" y="198025"/>
                  <a:pt x="75343" y="207169"/>
                </a:cubicBezTo>
                <a:lnTo>
                  <a:pt x="45244" y="207169"/>
                </a:lnTo>
                <a:lnTo>
                  <a:pt x="7144" y="207169"/>
                </a:lnTo>
                <a:lnTo>
                  <a:pt x="7144" y="245269"/>
                </a:lnTo>
                <a:lnTo>
                  <a:pt x="7144" y="302419"/>
                </a:lnTo>
                <a:lnTo>
                  <a:pt x="7144" y="340519"/>
                </a:lnTo>
                <a:lnTo>
                  <a:pt x="45244" y="340519"/>
                </a:lnTo>
                <a:lnTo>
                  <a:pt x="75343" y="340519"/>
                </a:lnTo>
                <a:cubicBezTo>
                  <a:pt x="78391" y="349663"/>
                  <a:pt x="82010" y="358521"/>
                  <a:pt x="86297" y="367094"/>
                </a:cubicBezTo>
                <a:lnTo>
                  <a:pt x="65056" y="388334"/>
                </a:lnTo>
                <a:lnTo>
                  <a:pt x="38100" y="415290"/>
                </a:lnTo>
                <a:lnTo>
                  <a:pt x="65056" y="442246"/>
                </a:lnTo>
                <a:lnTo>
                  <a:pt x="105442" y="482632"/>
                </a:lnTo>
                <a:lnTo>
                  <a:pt x="132398" y="509588"/>
                </a:lnTo>
                <a:lnTo>
                  <a:pt x="159353" y="482632"/>
                </a:lnTo>
                <a:lnTo>
                  <a:pt x="180594" y="461391"/>
                </a:lnTo>
                <a:cubicBezTo>
                  <a:pt x="189167" y="465677"/>
                  <a:pt x="198025" y="469297"/>
                  <a:pt x="207169" y="472345"/>
                </a:cubicBezTo>
                <a:lnTo>
                  <a:pt x="207169" y="502444"/>
                </a:lnTo>
                <a:lnTo>
                  <a:pt x="207169" y="540544"/>
                </a:lnTo>
                <a:lnTo>
                  <a:pt x="245269" y="540544"/>
                </a:lnTo>
                <a:lnTo>
                  <a:pt x="302419" y="540544"/>
                </a:lnTo>
                <a:lnTo>
                  <a:pt x="340519" y="540544"/>
                </a:lnTo>
                <a:lnTo>
                  <a:pt x="340519" y="502444"/>
                </a:lnTo>
                <a:lnTo>
                  <a:pt x="340519" y="472345"/>
                </a:lnTo>
                <a:cubicBezTo>
                  <a:pt x="349663" y="469297"/>
                  <a:pt x="358521" y="465677"/>
                  <a:pt x="367094" y="461391"/>
                </a:cubicBezTo>
                <a:lnTo>
                  <a:pt x="388334" y="482632"/>
                </a:lnTo>
                <a:lnTo>
                  <a:pt x="415290" y="509588"/>
                </a:lnTo>
                <a:lnTo>
                  <a:pt x="442246" y="482632"/>
                </a:lnTo>
                <a:lnTo>
                  <a:pt x="482632" y="442246"/>
                </a:lnTo>
                <a:lnTo>
                  <a:pt x="509588" y="415290"/>
                </a:lnTo>
                <a:lnTo>
                  <a:pt x="482632" y="388334"/>
                </a:lnTo>
                <a:lnTo>
                  <a:pt x="461391" y="367094"/>
                </a:lnTo>
                <a:cubicBezTo>
                  <a:pt x="465677" y="358521"/>
                  <a:pt x="469297" y="349663"/>
                  <a:pt x="472345" y="340519"/>
                </a:cubicBezTo>
                <a:lnTo>
                  <a:pt x="502444" y="340519"/>
                </a:lnTo>
                <a:lnTo>
                  <a:pt x="540544" y="340519"/>
                </a:lnTo>
                <a:lnTo>
                  <a:pt x="540544" y="302419"/>
                </a:lnTo>
                <a:lnTo>
                  <a:pt x="540544" y="245269"/>
                </a:lnTo>
                <a:lnTo>
                  <a:pt x="540544" y="207169"/>
                </a:lnTo>
                <a:lnTo>
                  <a:pt x="502444" y="207169"/>
                </a:lnTo>
                <a:close/>
                <a:moveTo>
                  <a:pt x="502444" y="302419"/>
                </a:moveTo>
                <a:lnTo>
                  <a:pt x="442722" y="302419"/>
                </a:lnTo>
                <a:cubicBezTo>
                  <a:pt x="438341" y="328422"/>
                  <a:pt x="428149" y="352425"/>
                  <a:pt x="413480" y="373094"/>
                </a:cubicBezTo>
                <a:lnTo>
                  <a:pt x="455676" y="415290"/>
                </a:lnTo>
                <a:lnTo>
                  <a:pt x="415290" y="455676"/>
                </a:lnTo>
                <a:lnTo>
                  <a:pt x="373094" y="413480"/>
                </a:lnTo>
                <a:cubicBezTo>
                  <a:pt x="352425" y="428149"/>
                  <a:pt x="328422" y="438341"/>
                  <a:pt x="302419" y="442722"/>
                </a:cubicBezTo>
                <a:lnTo>
                  <a:pt x="302419" y="502444"/>
                </a:lnTo>
                <a:lnTo>
                  <a:pt x="245269" y="502444"/>
                </a:lnTo>
                <a:lnTo>
                  <a:pt x="245269" y="442722"/>
                </a:lnTo>
                <a:cubicBezTo>
                  <a:pt x="219266" y="438341"/>
                  <a:pt x="195263" y="428149"/>
                  <a:pt x="174593" y="413480"/>
                </a:cubicBezTo>
                <a:lnTo>
                  <a:pt x="132398" y="455676"/>
                </a:lnTo>
                <a:lnTo>
                  <a:pt x="92012" y="415290"/>
                </a:lnTo>
                <a:lnTo>
                  <a:pt x="134207" y="373094"/>
                </a:lnTo>
                <a:cubicBezTo>
                  <a:pt x="119539" y="352425"/>
                  <a:pt x="109347" y="328422"/>
                  <a:pt x="104966" y="302419"/>
                </a:cubicBezTo>
                <a:lnTo>
                  <a:pt x="45244" y="302419"/>
                </a:lnTo>
                <a:lnTo>
                  <a:pt x="45244" y="245269"/>
                </a:lnTo>
                <a:lnTo>
                  <a:pt x="104966" y="245269"/>
                </a:lnTo>
                <a:cubicBezTo>
                  <a:pt x="109347" y="219266"/>
                  <a:pt x="119539" y="195263"/>
                  <a:pt x="134207" y="174593"/>
                </a:cubicBezTo>
                <a:lnTo>
                  <a:pt x="92012" y="132398"/>
                </a:lnTo>
                <a:lnTo>
                  <a:pt x="132398" y="92012"/>
                </a:lnTo>
                <a:lnTo>
                  <a:pt x="174593" y="134207"/>
                </a:lnTo>
                <a:cubicBezTo>
                  <a:pt x="195263" y="119539"/>
                  <a:pt x="219266" y="109347"/>
                  <a:pt x="245269" y="104966"/>
                </a:cubicBezTo>
                <a:lnTo>
                  <a:pt x="245269" y="45244"/>
                </a:lnTo>
                <a:lnTo>
                  <a:pt x="302419" y="45244"/>
                </a:lnTo>
                <a:lnTo>
                  <a:pt x="302419" y="104966"/>
                </a:lnTo>
                <a:cubicBezTo>
                  <a:pt x="328422" y="109347"/>
                  <a:pt x="352425" y="119539"/>
                  <a:pt x="373094" y="134207"/>
                </a:cubicBezTo>
                <a:lnTo>
                  <a:pt x="415290" y="92012"/>
                </a:lnTo>
                <a:lnTo>
                  <a:pt x="455676" y="132398"/>
                </a:lnTo>
                <a:lnTo>
                  <a:pt x="413480" y="174593"/>
                </a:lnTo>
                <a:cubicBezTo>
                  <a:pt x="428149" y="195263"/>
                  <a:pt x="438341" y="219266"/>
                  <a:pt x="442722" y="245269"/>
                </a:cubicBezTo>
                <a:lnTo>
                  <a:pt x="502444" y="245269"/>
                </a:lnTo>
                <a:lnTo>
                  <a:pt x="502444" y="302419"/>
                </a:lnTo>
                <a:close/>
                <a:moveTo>
                  <a:pt x="273844" y="150019"/>
                </a:moveTo>
                <a:cubicBezTo>
                  <a:pt x="205550" y="150019"/>
                  <a:pt x="150019" y="205550"/>
                  <a:pt x="150019" y="273844"/>
                </a:cubicBezTo>
                <a:cubicBezTo>
                  <a:pt x="150019" y="342138"/>
                  <a:pt x="205550" y="397669"/>
                  <a:pt x="273844" y="397669"/>
                </a:cubicBezTo>
                <a:cubicBezTo>
                  <a:pt x="342138" y="397669"/>
                  <a:pt x="397669" y="342138"/>
                  <a:pt x="397669" y="273844"/>
                </a:cubicBezTo>
                <a:cubicBezTo>
                  <a:pt x="397669" y="205550"/>
                  <a:pt x="342138" y="150019"/>
                  <a:pt x="273844" y="150019"/>
                </a:cubicBezTo>
                <a:close/>
                <a:moveTo>
                  <a:pt x="273844" y="359569"/>
                </a:moveTo>
                <a:cubicBezTo>
                  <a:pt x="226505" y="359569"/>
                  <a:pt x="188119" y="321183"/>
                  <a:pt x="188119" y="273844"/>
                </a:cubicBezTo>
                <a:cubicBezTo>
                  <a:pt x="188119" y="226505"/>
                  <a:pt x="226505" y="188119"/>
                  <a:pt x="273844" y="188119"/>
                </a:cubicBezTo>
                <a:cubicBezTo>
                  <a:pt x="321183" y="188119"/>
                  <a:pt x="359569" y="226505"/>
                  <a:pt x="359569" y="273844"/>
                </a:cubicBezTo>
                <a:cubicBezTo>
                  <a:pt x="359569" y="321183"/>
                  <a:pt x="321183" y="359569"/>
                  <a:pt x="273844" y="359569"/>
                </a:cubicBezTo>
                <a:close/>
              </a:path>
            </a:pathLst>
          </a:custGeom>
          <a:solidFill>
            <a:srgbClr val="002856"/>
          </a:solidFill>
          <a:ln w="9525" cap="flat">
            <a:noFill/>
            <a:prstDash val="solid"/>
            <a:miter/>
          </a:ln>
        </p:spPr>
        <p:txBody>
          <a:bodyPr rtlCol="0" anchor="ctr"/>
          <a:lstStyle/>
          <a:p>
            <a:pPr>
              <a:buClr>
                <a:srgbClr val="000000"/>
              </a:buClr>
              <a:buFont typeface="Arial"/>
              <a:buNone/>
            </a:pPr>
            <a:endParaRPr lang="en-US" sz="800" kern="0" dirty="0">
              <a:solidFill>
                <a:srgbClr val="000000"/>
              </a:solidFill>
              <a:cs typeface="Arial"/>
              <a:sym typeface="Arial"/>
            </a:endParaRPr>
          </a:p>
        </p:txBody>
      </p:sp>
      <p:pic>
        <p:nvPicPr>
          <p:cNvPr id="452" name="Graphic 451">
            <a:extLst>
              <a:ext uri="{FF2B5EF4-FFF2-40B4-BE49-F238E27FC236}">
                <a16:creationId xmlns:a16="http://schemas.microsoft.com/office/drawing/2014/main" id="{A5A2E342-58FB-CED7-28F8-CFA122D01D2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bwMode="gray">
          <a:xfrm>
            <a:off x="6249951" y="7011486"/>
            <a:ext cx="256440" cy="199453"/>
          </a:xfrm>
          <a:prstGeom prst="rect">
            <a:avLst/>
          </a:prstGeom>
        </p:spPr>
      </p:pic>
      <p:pic>
        <p:nvPicPr>
          <p:cNvPr id="453" name="Graphic 452">
            <a:extLst>
              <a:ext uri="{FF2B5EF4-FFF2-40B4-BE49-F238E27FC236}">
                <a16:creationId xmlns:a16="http://schemas.microsoft.com/office/drawing/2014/main" id="{4227E97C-614C-03BB-C1B1-C4847F5BB43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bwMode="gray">
          <a:xfrm>
            <a:off x="2200081" y="7023275"/>
            <a:ext cx="256440" cy="199453"/>
          </a:xfrm>
          <a:prstGeom prst="rect">
            <a:avLst/>
          </a:prstGeom>
        </p:spPr>
      </p:pic>
      <p:sp>
        <p:nvSpPr>
          <p:cNvPr id="455" name="TextBox 454">
            <a:extLst>
              <a:ext uri="{FF2B5EF4-FFF2-40B4-BE49-F238E27FC236}">
                <a16:creationId xmlns:a16="http://schemas.microsoft.com/office/drawing/2014/main" id="{573643F3-5AC6-A308-9116-70915139AE28}"/>
              </a:ext>
            </a:extLst>
          </p:cNvPr>
          <p:cNvSpPr txBox="1"/>
          <p:nvPr/>
        </p:nvSpPr>
        <p:spPr bwMode="gray">
          <a:xfrm>
            <a:off x="4846469" y="6538750"/>
            <a:ext cx="921458" cy="430887"/>
          </a:xfrm>
          <a:prstGeom prst="rect">
            <a:avLst/>
          </a:prstGeom>
          <a:noFill/>
        </p:spPr>
        <p:txBody>
          <a:bodyPr wrap="square" rIns="0" rtlCol="0">
            <a:spAutoFit/>
          </a:bodyPr>
          <a:lstStyle/>
          <a:p>
            <a:r>
              <a:rPr lang="en-US" sz="1100" dirty="0">
                <a:solidFill>
                  <a:srgbClr val="000000"/>
                </a:solidFill>
              </a:rPr>
              <a:t>Custom integrations</a:t>
            </a:r>
          </a:p>
        </p:txBody>
      </p:sp>
      <p:sp>
        <p:nvSpPr>
          <p:cNvPr id="467" name="TextBox 466">
            <a:extLst>
              <a:ext uri="{FF2B5EF4-FFF2-40B4-BE49-F238E27FC236}">
                <a16:creationId xmlns:a16="http://schemas.microsoft.com/office/drawing/2014/main" id="{DB99EBF3-B71A-F644-AB8D-D659B58AB5FF}"/>
              </a:ext>
            </a:extLst>
          </p:cNvPr>
          <p:cNvSpPr txBox="1"/>
          <p:nvPr/>
        </p:nvSpPr>
        <p:spPr>
          <a:xfrm>
            <a:off x="4948697" y="7355813"/>
            <a:ext cx="1672894" cy="261610"/>
          </a:xfrm>
          <a:prstGeom prst="rect">
            <a:avLst/>
          </a:prstGeom>
          <a:noFill/>
        </p:spPr>
        <p:txBody>
          <a:bodyPr wrap="none" lIns="0" rtlCol="0">
            <a:spAutoFit/>
          </a:bodyPr>
          <a:lstStyle/>
          <a:p>
            <a:pPr algn="l"/>
            <a:r>
              <a:rPr lang="en-US" sz="1100" b="1" dirty="0"/>
              <a:t>Service implementation</a:t>
            </a:r>
          </a:p>
        </p:txBody>
      </p:sp>
      <p:grpSp>
        <p:nvGrpSpPr>
          <p:cNvPr id="485" name="Group 484">
            <a:extLst>
              <a:ext uri="{FF2B5EF4-FFF2-40B4-BE49-F238E27FC236}">
                <a16:creationId xmlns:a16="http://schemas.microsoft.com/office/drawing/2014/main" id="{10E7AABF-BFF7-D481-47B9-3DC935152B0D}"/>
              </a:ext>
            </a:extLst>
          </p:cNvPr>
          <p:cNvGrpSpPr/>
          <p:nvPr/>
        </p:nvGrpSpPr>
        <p:grpSpPr>
          <a:xfrm>
            <a:off x="3110211" y="6316448"/>
            <a:ext cx="119726" cy="239452"/>
            <a:chOff x="973183" y="4134394"/>
            <a:chExt cx="119726" cy="239452"/>
          </a:xfrm>
        </p:grpSpPr>
        <p:sp>
          <p:nvSpPr>
            <p:cNvPr id="479" name="Oval 478">
              <a:extLst>
                <a:ext uri="{FF2B5EF4-FFF2-40B4-BE49-F238E27FC236}">
                  <a16:creationId xmlns:a16="http://schemas.microsoft.com/office/drawing/2014/main" id="{F603A7A4-F9E7-D90B-F512-BA63F68C1AA1}"/>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82" name="Straight Connector 481">
              <a:extLst>
                <a:ext uri="{FF2B5EF4-FFF2-40B4-BE49-F238E27FC236}">
                  <a16:creationId xmlns:a16="http://schemas.microsoft.com/office/drawing/2014/main" id="{15E1DF12-E7BF-CBC8-3897-11B5C83E55CD}"/>
                </a:ext>
              </a:extLst>
            </p:cNvPr>
            <p:cNvCxnSpPr>
              <a:cxnSpLocks/>
              <a:stCxn id="479"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486" name="Group 485">
            <a:extLst>
              <a:ext uri="{FF2B5EF4-FFF2-40B4-BE49-F238E27FC236}">
                <a16:creationId xmlns:a16="http://schemas.microsoft.com/office/drawing/2014/main" id="{DD4902FA-C430-BDCF-A713-A9C8E255E458}"/>
              </a:ext>
            </a:extLst>
          </p:cNvPr>
          <p:cNvGrpSpPr/>
          <p:nvPr/>
        </p:nvGrpSpPr>
        <p:grpSpPr>
          <a:xfrm>
            <a:off x="4836663" y="6324513"/>
            <a:ext cx="119726" cy="239452"/>
            <a:chOff x="973183" y="4134394"/>
            <a:chExt cx="119726" cy="239452"/>
          </a:xfrm>
        </p:grpSpPr>
        <p:sp>
          <p:nvSpPr>
            <p:cNvPr id="487" name="Oval 486">
              <a:extLst>
                <a:ext uri="{FF2B5EF4-FFF2-40B4-BE49-F238E27FC236}">
                  <a16:creationId xmlns:a16="http://schemas.microsoft.com/office/drawing/2014/main" id="{DB770B50-46FA-36B4-E1E1-8CEADF2949C8}"/>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88" name="Straight Connector 487">
              <a:extLst>
                <a:ext uri="{FF2B5EF4-FFF2-40B4-BE49-F238E27FC236}">
                  <a16:creationId xmlns:a16="http://schemas.microsoft.com/office/drawing/2014/main" id="{D2DCA8D4-8ADB-DEAE-BA1B-4B27AF22E02A}"/>
                </a:ext>
              </a:extLst>
            </p:cNvPr>
            <p:cNvCxnSpPr>
              <a:cxnSpLocks/>
              <a:stCxn id="487"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489" name="Group 488">
            <a:extLst>
              <a:ext uri="{FF2B5EF4-FFF2-40B4-BE49-F238E27FC236}">
                <a16:creationId xmlns:a16="http://schemas.microsoft.com/office/drawing/2014/main" id="{24B01992-DB6F-B136-C08F-62A34E9D0075}"/>
              </a:ext>
            </a:extLst>
          </p:cNvPr>
          <p:cNvGrpSpPr/>
          <p:nvPr/>
        </p:nvGrpSpPr>
        <p:grpSpPr>
          <a:xfrm>
            <a:off x="5475977" y="6319427"/>
            <a:ext cx="119726" cy="239452"/>
            <a:chOff x="973183" y="4134394"/>
            <a:chExt cx="119726" cy="239452"/>
          </a:xfrm>
        </p:grpSpPr>
        <p:sp>
          <p:nvSpPr>
            <p:cNvPr id="490" name="Oval 489">
              <a:extLst>
                <a:ext uri="{FF2B5EF4-FFF2-40B4-BE49-F238E27FC236}">
                  <a16:creationId xmlns:a16="http://schemas.microsoft.com/office/drawing/2014/main" id="{B818269C-390D-FC73-6555-4FDC61E79274}"/>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91" name="Straight Connector 490">
              <a:extLst>
                <a:ext uri="{FF2B5EF4-FFF2-40B4-BE49-F238E27FC236}">
                  <a16:creationId xmlns:a16="http://schemas.microsoft.com/office/drawing/2014/main" id="{DAACF792-0ED3-963B-59F9-2C0A1F48ADF0}"/>
                </a:ext>
              </a:extLst>
            </p:cNvPr>
            <p:cNvCxnSpPr>
              <a:cxnSpLocks/>
              <a:stCxn id="490"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499" name="Group 498">
            <a:extLst>
              <a:ext uri="{FF2B5EF4-FFF2-40B4-BE49-F238E27FC236}">
                <a16:creationId xmlns:a16="http://schemas.microsoft.com/office/drawing/2014/main" id="{599FABFF-DCEB-29D2-C2FC-66AB3F9800A0}"/>
              </a:ext>
            </a:extLst>
          </p:cNvPr>
          <p:cNvGrpSpPr/>
          <p:nvPr/>
        </p:nvGrpSpPr>
        <p:grpSpPr>
          <a:xfrm>
            <a:off x="6295346" y="6319744"/>
            <a:ext cx="119726" cy="239452"/>
            <a:chOff x="973183" y="4134394"/>
            <a:chExt cx="119726" cy="239452"/>
          </a:xfrm>
        </p:grpSpPr>
        <p:sp>
          <p:nvSpPr>
            <p:cNvPr id="500" name="Oval 499">
              <a:extLst>
                <a:ext uri="{FF2B5EF4-FFF2-40B4-BE49-F238E27FC236}">
                  <a16:creationId xmlns:a16="http://schemas.microsoft.com/office/drawing/2014/main" id="{5F04011B-8F40-52F8-F83A-BDD21E777500}"/>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01" name="Straight Connector 500">
              <a:extLst>
                <a:ext uri="{FF2B5EF4-FFF2-40B4-BE49-F238E27FC236}">
                  <a16:creationId xmlns:a16="http://schemas.microsoft.com/office/drawing/2014/main" id="{50D67F17-2A71-404E-04C4-E6501818E24A}"/>
                </a:ext>
              </a:extLst>
            </p:cNvPr>
            <p:cNvCxnSpPr>
              <a:cxnSpLocks/>
              <a:stCxn id="500"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504" name="Group 503">
            <a:extLst>
              <a:ext uri="{FF2B5EF4-FFF2-40B4-BE49-F238E27FC236}">
                <a16:creationId xmlns:a16="http://schemas.microsoft.com/office/drawing/2014/main" id="{65BA1CE9-F20A-9908-6E78-386C6ADD25E7}"/>
              </a:ext>
            </a:extLst>
          </p:cNvPr>
          <p:cNvGrpSpPr/>
          <p:nvPr/>
        </p:nvGrpSpPr>
        <p:grpSpPr>
          <a:xfrm>
            <a:off x="7159279" y="6318200"/>
            <a:ext cx="119726" cy="239452"/>
            <a:chOff x="973183" y="4134394"/>
            <a:chExt cx="119726" cy="239452"/>
          </a:xfrm>
        </p:grpSpPr>
        <p:sp>
          <p:nvSpPr>
            <p:cNvPr id="505" name="Oval 504">
              <a:extLst>
                <a:ext uri="{FF2B5EF4-FFF2-40B4-BE49-F238E27FC236}">
                  <a16:creationId xmlns:a16="http://schemas.microsoft.com/office/drawing/2014/main" id="{F72293E9-158E-9E0A-101D-DE2EDD12A7FA}"/>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06" name="Straight Connector 505">
              <a:extLst>
                <a:ext uri="{FF2B5EF4-FFF2-40B4-BE49-F238E27FC236}">
                  <a16:creationId xmlns:a16="http://schemas.microsoft.com/office/drawing/2014/main" id="{28001A12-76CC-E0B5-74B0-6873F81DC837}"/>
                </a:ext>
              </a:extLst>
            </p:cNvPr>
            <p:cNvCxnSpPr>
              <a:cxnSpLocks/>
              <a:stCxn id="505"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507" name="Group 506">
            <a:extLst>
              <a:ext uri="{FF2B5EF4-FFF2-40B4-BE49-F238E27FC236}">
                <a16:creationId xmlns:a16="http://schemas.microsoft.com/office/drawing/2014/main" id="{1B986B68-69C2-1BC6-74AD-E6ED92B9E426}"/>
              </a:ext>
            </a:extLst>
          </p:cNvPr>
          <p:cNvGrpSpPr/>
          <p:nvPr/>
        </p:nvGrpSpPr>
        <p:grpSpPr>
          <a:xfrm>
            <a:off x="7953942" y="6321657"/>
            <a:ext cx="119726" cy="239452"/>
            <a:chOff x="973183" y="4134394"/>
            <a:chExt cx="119726" cy="239452"/>
          </a:xfrm>
        </p:grpSpPr>
        <p:sp>
          <p:nvSpPr>
            <p:cNvPr id="508" name="Oval 507">
              <a:extLst>
                <a:ext uri="{FF2B5EF4-FFF2-40B4-BE49-F238E27FC236}">
                  <a16:creationId xmlns:a16="http://schemas.microsoft.com/office/drawing/2014/main" id="{A5627C4F-B5DC-3797-7832-693ABEFCF6A2}"/>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09" name="Straight Connector 508">
              <a:extLst>
                <a:ext uri="{FF2B5EF4-FFF2-40B4-BE49-F238E27FC236}">
                  <a16:creationId xmlns:a16="http://schemas.microsoft.com/office/drawing/2014/main" id="{FE4C21B0-1ACF-B671-225B-5F6B2E7A31CD}"/>
                </a:ext>
              </a:extLst>
            </p:cNvPr>
            <p:cNvCxnSpPr>
              <a:cxnSpLocks/>
              <a:stCxn id="508"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sp>
        <p:nvSpPr>
          <p:cNvPr id="511" name="Rectangle 510">
            <a:extLst>
              <a:ext uri="{FF2B5EF4-FFF2-40B4-BE49-F238E27FC236}">
                <a16:creationId xmlns:a16="http://schemas.microsoft.com/office/drawing/2014/main" id="{AEB99FF2-FE5A-F3F5-67B1-21622D4A1D62}"/>
              </a:ext>
            </a:extLst>
          </p:cNvPr>
          <p:cNvSpPr/>
          <p:nvPr/>
        </p:nvSpPr>
        <p:spPr bwMode="gray">
          <a:xfrm>
            <a:off x="517795" y="1980219"/>
            <a:ext cx="803745" cy="602162"/>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24" name="TextBox 523">
            <a:extLst>
              <a:ext uri="{FF2B5EF4-FFF2-40B4-BE49-F238E27FC236}">
                <a16:creationId xmlns:a16="http://schemas.microsoft.com/office/drawing/2014/main" id="{84D5E93B-8BF5-78C2-3990-6F9004382B9E}"/>
              </a:ext>
            </a:extLst>
          </p:cNvPr>
          <p:cNvSpPr txBox="1"/>
          <p:nvPr/>
        </p:nvSpPr>
        <p:spPr bwMode="gray">
          <a:xfrm>
            <a:off x="7381478" y="3317168"/>
            <a:ext cx="1811393" cy="169277"/>
          </a:xfrm>
          <a:prstGeom prst="rect">
            <a:avLst/>
          </a:prstGeom>
          <a:noFill/>
        </p:spPr>
        <p:txBody>
          <a:bodyPr wrap="square" lIns="0" tIns="0" rIns="0" bIns="0" rtlCol="0">
            <a:spAutoFit/>
          </a:bodyPr>
          <a:lstStyle/>
          <a:p>
            <a:pPr algn="ctr"/>
            <a:r>
              <a:rPr lang="en-US" sz="1100" dirty="0">
                <a:solidFill>
                  <a:srgbClr val="000000"/>
                </a:solidFill>
              </a:rPr>
              <a:t>Managed event interfaces</a:t>
            </a:r>
          </a:p>
        </p:txBody>
      </p:sp>
      <p:sp>
        <p:nvSpPr>
          <p:cNvPr id="525" name="TextBox 524">
            <a:extLst>
              <a:ext uri="{FF2B5EF4-FFF2-40B4-BE49-F238E27FC236}">
                <a16:creationId xmlns:a16="http://schemas.microsoft.com/office/drawing/2014/main" id="{D4B8419C-B077-6779-053C-C84E4846C1B7}"/>
              </a:ext>
            </a:extLst>
          </p:cNvPr>
          <p:cNvSpPr txBox="1"/>
          <p:nvPr/>
        </p:nvSpPr>
        <p:spPr bwMode="gray">
          <a:xfrm>
            <a:off x="4499052" y="3321743"/>
            <a:ext cx="1404728" cy="169277"/>
          </a:xfrm>
          <a:prstGeom prst="rect">
            <a:avLst/>
          </a:prstGeom>
          <a:noFill/>
        </p:spPr>
        <p:txBody>
          <a:bodyPr wrap="square" lIns="0" tIns="0" rIns="0" bIns="0" rtlCol="0">
            <a:spAutoFit/>
          </a:bodyPr>
          <a:lstStyle/>
          <a:p>
            <a:pPr algn="ctr"/>
            <a:r>
              <a:rPr lang="en-US" sz="1100" dirty="0">
                <a:solidFill>
                  <a:srgbClr val="000000"/>
                </a:solidFill>
              </a:rPr>
              <a:t>Managed service API</a:t>
            </a:r>
          </a:p>
        </p:txBody>
      </p:sp>
      <p:pic>
        <p:nvPicPr>
          <p:cNvPr id="1030" name="Picture 6">
            <a:extLst>
              <a:ext uri="{FF2B5EF4-FFF2-40B4-BE49-F238E27FC236}">
                <a16:creationId xmlns:a16="http://schemas.microsoft.com/office/drawing/2014/main" id="{CBD8C6DB-B3FA-B563-DC49-EED85F07E2C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62257" y="4660791"/>
            <a:ext cx="266767" cy="24453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D1ECB78-9BA5-EE2E-BD03-8809981188A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24390" y="4669816"/>
            <a:ext cx="371391" cy="22696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3880AC8-915B-3EE3-A1DF-052805E2873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95870" y="4641617"/>
            <a:ext cx="277847" cy="258001"/>
          </a:xfrm>
          <a:prstGeom prst="rect">
            <a:avLst/>
          </a:prstGeom>
          <a:noFill/>
          <a:extLst>
            <a:ext uri="{909E8E84-426E-40DD-AFC4-6F175D3DCCD1}">
              <a14:hiddenFill xmlns:a14="http://schemas.microsoft.com/office/drawing/2010/main">
                <a:solidFill>
                  <a:srgbClr val="FFFFFF"/>
                </a:solidFill>
              </a14:hiddenFill>
            </a:ext>
          </a:extLst>
        </p:spPr>
      </p:pic>
      <p:sp>
        <p:nvSpPr>
          <p:cNvPr id="469" name="TextBox 468">
            <a:extLst>
              <a:ext uri="{FF2B5EF4-FFF2-40B4-BE49-F238E27FC236}">
                <a16:creationId xmlns:a16="http://schemas.microsoft.com/office/drawing/2014/main" id="{E7FC91AA-31EE-9913-C87C-B8986E8748EB}"/>
              </a:ext>
            </a:extLst>
          </p:cNvPr>
          <p:cNvSpPr txBox="1"/>
          <p:nvPr/>
        </p:nvSpPr>
        <p:spPr bwMode="gray">
          <a:xfrm>
            <a:off x="6290388" y="6564294"/>
            <a:ext cx="1104990" cy="430887"/>
          </a:xfrm>
          <a:prstGeom prst="rect">
            <a:avLst/>
          </a:prstGeom>
          <a:noFill/>
        </p:spPr>
        <p:txBody>
          <a:bodyPr wrap="square" rIns="0" rtlCol="0">
            <a:spAutoFit/>
          </a:bodyPr>
          <a:lstStyle/>
          <a:p>
            <a:r>
              <a:rPr lang="en-US" sz="1100" dirty="0">
                <a:solidFill>
                  <a:srgbClr val="000000"/>
                </a:solidFill>
              </a:rPr>
              <a:t>Microservices/ </a:t>
            </a:r>
            <a:r>
              <a:rPr lang="en-US" sz="1100">
                <a:solidFill>
                  <a:srgbClr val="000000"/>
                </a:solidFill>
              </a:rPr>
              <a:t>service mesh</a:t>
            </a:r>
            <a:endParaRPr lang="en-US" sz="1100" dirty="0">
              <a:solidFill>
                <a:srgbClr val="000000"/>
              </a:solidFill>
            </a:endParaRPr>
          </a:p>
        </p:txBody>
      </p:sp>
      <p:pic>
        <p:nvPicPr>
          <p:cNvPr id="470" name="Picture 2">
            <a:extLst>
              <a:ext uri="{FF2B5EF4-FFF2-40B4-BE49-F238E27FC236}">
                <a16:creationId xmlns:a16="http://schemas.microsoft.com/office/drawing/2014/main" id="{332044B8-550F-D105-E9BF-254E839F8DD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99577" y="6623121"/>
            <a:ext cx="236795" cy="218580"/>
          </a:xfrm>
          <a:prstGeom prst="rect">
            <a:avLst/>
          </a:prstGeom>
          <a:noFill/>
          <a:extLst>
            <a:ext uri="{909E8E84-426E-40DD-AFC4-6F175D3DCCD1}">
              <a14:hiddenFill xmlns:a14="http://schemas.microsoft.com/office/drawing/2010/main">
                <a:solidFill>
                  <a:srgbClr val="FFFFFF"/>
                </a:solidFill>
              </a14:hiddenFill>
            </a:ext>
          </a:extLst>
        </p:spPr>
      </p:pic>
      <p:sp>
        <p:nvSpPr>
          <p:cNvPr id="494" name="Rectangle 493">
            <a:extLst>
              <a:ext uri="{FF2B5EF4-FFF2-40B4-BE49-F238E27FC236}">
                <a16:creationId xmlns:a16="http://schemas.microsoft.com/office/drawing/2014/main" id="{41C68A5B-58DB-4AF7-3053-74DCC5DA9351}"/>
              </a:ext>
            </a:extLst>
          </p:cNvPr>
          <p:cNvSpPr/>
          <p:nvPr/>
        </p:nvSpPr>
        <p:spPr bwMode="gray">
          <a:xfrm>
            <a:off x="2028273" y="4552406"/>
            <a:ext cx="8838975" cy="456835"/>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98" name="TextBox 497">
            <a:extLst>
              <a:ext uri="{FF2B5EF4-FFF2-40B4-BE49-F238E27FC236}">
                <a16:creationId xmlns:a16="http://schemas.microsoft.com/office/drawing/2014/main" id="{6338A1EC-587E-EF9D-9612-D98754A6E05C}"/>
              </a:ext>
            </a:extLst>
          </p:cNvPr>
          <p:cNvSpPr txBox="1"/>
          <p:nvPr/>
        </p:nvSpPr>
        <p:spPr>
          <a:xfrm>
            <a:off x="2094532" y="4646993"/>
            <a:ext cx="771085" cy="261610"/>
          </a:xfrm>
          <a:prstGeom prst="rect">
            <a:avLst/>
          </a:prstGeom>
          <a:noFill/>
        </p:spPr>
        <p:txBody>
          <a:bodyPr wrap="square" lIns="0" rtlCol="0">
            <a:spAutoFit/>
          </a:bodyPr>
          <a:lstStyle/>
          <a:p>
            <a:pPr algn="l"/>
            <a:r>
              <a:rPr lang="en-US" sz="1100" b="1" dirty="0"/>
              <a:t>Mediation</a:t>
            </a:r>
          </a:p>
        </p:txBody>
      </p:sp>
      <p:pic>
        <p:nvPicPr>
          <p:cNvPr id="512" name="Picture 2">
            <a:extLst>
              <a:ext uri="{FF2B5EF4-FFF2-40B4-BE49-F238E27FC236}">
                <a16:creationId xmlns:a16="http://schemas.microsoft.com/office/drawing/2014/main" id="{365AB149-C3E8-5F4D-6F9C-32D00124C51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89832" y="6600506"/>
            <a:ext cx="220226" cy="202175"/>
          </a:xfrm>
          <a:prstGeom prst="rect">
            <a:avLst/>
          </a:prstGeom>
          <a:noFill/>
          <a:extLst>
            <a:ext uri="{909E8E84-426E-40DD-AFC4-6F175D3DCCD1}">
              <a14:hiddenFill xmlns:a14="http://schemas.microsoft.com/office/drawing/2010/main">
                <a:solidFill>
                  <a:srgbClr val="FFFFFF"/>
                </a:solidFill>
              </a14:hiddenFill>
            </a:ext>
          </a:extLst>
        </p:spPr>
      </p:pic>
      <p:pic>
        <p:nvPicPr>
          <p:cNvPr id="513" name="Picture 4">
            <a:extLst>
              <a:ext uri="{FF2B5EF4-FFF2-40B4-BE49-F238E27FC236}">
                <a16:creationId xmlns:a16="http://schemas.microsoft.com/office/drawing/2014/main" id="{E711C614-AB76-46DD-8698-CA1ED4418A7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02175" y="7011295"/>
            <a:ext cx="186259" cy="208610"/>
          </a:xfrm>
          <a:prstGeom prst="rect">
            <a:avLst/>
          </a:prstGeom>
          <a:noFill/>
          <a:extLst>
            <a:ext uri="{909E8E84-426E-40DD-AFC4-6F175D3DCCD1}">
              <a14:hiddenFill xmlns:a14="http://schemas.microsoft.com/office/drawing/2010/main">
                <a:solidFill>
                  <a:srgbClr val="FFFFFF"/>
                </a:solidFill>
              </a14:hiddenFill>
            </a:ext>
          </a:extLst>
        </p:spPr>
      </p:pic>
      <p:grpSp>
        <p:nvGrpSpPr>
          <p:cNvPr id="459" name="Group 458">
            <a:extLst>
              <a:ext uri="{FF2B5EF4-FFF2-40B4-BE49-F238E27FC236}">
                <a16:creationId xmlns:a16="http://schemas.microsoft.com/office/drawing/2014/main" id="{257225FA-7237-FC70-B9E2-516CF92499F7}"/>
              </a:ext>
            </a:extLst>
          </p:cNvPr>
          <p:cNvGrpSpPr/>
          <p:nvPr/>
        </p:nvGrpSpPr>
        <p:grpSpPr>
          <a:xfrm>
            <a:off x="3513821" y="3530659"/>
            <a:ext cx="119726" cy="239452"/>
            <a:chOff x="973183" y="4134394"/>
            <a:chExt cx="119726" cy="239452"/>
          </a:xfrm>
        </p:grpSpPr>
        <p:sp>
          <p:nvSpPr>
            <p:cNvPr id="460" name="Oval 459">
              <a:extLst>
                <a:ext uri="{FF2B5EF4-FFF2-40B4-BE49-F238E27FC236}">
                  <a16:creationId xmlns:a16="http://schemas.microsoft.com/office/drawing/2014/main" id="{396FCAEC-5D86-8CC5-5F5A-D82F00988530}"/>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62" name="Straight Connector 461">
              <a:extLst>
                <a:ext uri="{FF2B5EF4-FFF2-40B4-BE49-F238E27FC236}">
                  <a16:creationId xmlns:a16="http://schemas.microsoft.com/office/drawing/2014/main" id="{5A7A2B73-7876-FAAC-94F3-10276A109C56}"/>
                </a:ext>
              </a:extLst>
            </p:cNvPr>
            <p:cNvCxnSpPr>
              <a:cxnSpLocks/>
              <a:stCxn id="460"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480" name="Group 479">
            <a:extLst>
              <a:ext uri="{FF2B5EF4-FFF2-40B4-BE49-F238E27FC236}">
                <a16:creationId xmlns:a16="http://schemas.microsoft.com/office/drawing/2014/main" id="{9A6029AE-0C39-D5DB-3D15-E75B23FF0964}"/>
              </a:ext>
            </a:extLst>
          </p:cNvPr>
          <p:cNvGrpSpPr/>
          <p:nvPr/>
        </p:nvGrpSpPr>
        <p:grpSpPr>
          <a:xfrm>
            <a:off x="6581740" y="3531029"/>
            <a:ext cx="119726" cy="239452"/>
            <a:chOff x="973183" y="4134394"/>
            <a:chExt cx="119726" cy="239452"/>
          </a:xfrm>
        </p:grpSpPr>
        <p:sp>
          <p:nvSpPr>
            <p:cNvPr id="483" name="Oval 482">
              <a:extLst>
                <a:ext uri="{FF2B5EF4-FFF2-40B4-BE49-F238E27FC236}">
                  <a16:creationId xmlns:a16="http://schemas.microsoft.com/office/drawing/2014/main" id="{2D9DC906-3245-5D7B-65BD-85D177568DC4}"/>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84" name="Straight Connector 483">
              <a:extLst>
                <a:ext uri="{FF2B5EF4-FFF2-40B4-BE49-F238E27FC236}">
                  <a16:creationId xmlns:a16="http://schemas.microsoft.com/office/drawing/2014/main" id="{1C05AD98-A957-B6DC-58E0-2EB39B4B8AFD}"/>
                </a:ext>
              </a:extLst>
            </p:cNvPr>
            <p:cNvCxnSpPr>
              <a:cxnSpLocks/>
              <a:stCxn id="483"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492" name="Group 491">
            <a:extLst>
              <a:ext uri="{FF2B5EF4-FFF2-40B4-BE49-F238E27FC236}">
                <a16:creationId xmlns:a16="http://schemas.microsoft.com/office/drawing/2014/main" id="{BD203BC5-51BA-1266-EBA0-4570B33CDD8A}"/>
              </a:ext>
            </a:extLst>
          </p:cNvPr>
          <p:cNvGrpSpPr/>
          <p:nvPr/>
        </p:nvGrpSpPr>
        <p:grpSpPr>
          <a:xfrm>
            <a:off x="5096114" y="3533359"/>
            <a:ext cx="119726" cy="239452"/>
            <a:chOff x="973183" y="4134394"/>
            <a:chExt cx="119726" cy="239452"/>
          </a:xfrm>
        </p:grpSpPr>
        <p:sp>
          <p:nvSpPr>
            <p:cNvPr id="493" name="Oval 492">
              <a:extLst>
                <a:ext uri="{FF2B5EF4-FFF2-40B4-BE49-F238E27FC236}">
                  <a16:creationId xmlns:a16="http://schemas.microsoft.com/office/drawing/2014/main" id="{47C312BA-593A-5F26-2773-927113ECA4EC}"/>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497" name="Straight Connector 496">
              <a:extLst>
                <a:ext uri="{FF2B5EF4-FFF2-40B4-BE49-F238E27FC236}">
                  <a16:creationId xmlns:a16="http://schemas.microsoft.com/office/drawing/2014/main" id="{85532416-533D-D830-C6E3-E85D011BCA7E}"/>
                </a:ext>
              </a:extLst>
            </p:cNvPr>
            <p:cNvCxnSpPr>
              <a:cxnSpLocks/>
              <a:stCxn id="493"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grpSp>
        <p:nvGrpSpPr>
          <p:cNvPr id="514" name="Group 513">
            <a:extLst>
              <a:ext uri="{FF2B5EF4-FFF2-40B4-BE49-F238E27FC236}">
                <a16:creationId xmlns:a16="http://schemas.microsoft.com/office/drawing/2014/main" id="{0EA2BB0D-E1DB-5722-5785-F44293DF4E54}"/>
              </a:ext>
            </a:extLst>
          </p:cNvPr>
          <p:cNvGrpSpPr/>
          <p:nvPr/>
        </p:nvGrpSpPr>
        <p:grpSpPr>
          <a:xfrm>
            <a:off x="8228933" y="3526930"/>
            <a:ext cx="119726" cy="239452"/>
            <a:chOff x="973183" y="4134394"/>
            <a:chExt cx="119726" cy="239452"/>
          </a:xfrm>
        </p:grpSpPr>
        <p:sp>
          <p:nvSpPr>
            <p:cNvPr id="517" name="Oval 516">
              <a:extLst>
                <a:ext uri="{FF2B5EF4-FFF2-40B4-BE49-F238E27FC236}">
                  <a16:creationId xmlns:a16="http://schemas.microsoft.com/office/drawing/2014/main" id="{A64F5ABC-BAB6-EBF4-D8FD-7C8AFABF3C5F}"/>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18" name="Straight Connector 517">
              <a:extLst>
                <a:ext uri="{FF2B5EF4-FFF2-40B4-BE49-F238E27FC236}">
                  <a16:creationId xmlns:a16="http://schemas.microsoft.com/office/drawing/2014/main" id="{35B63FB8-C0B1-D345-BDF5-908C32FC07BD}"/>
                </a:ext>
              </a:extLst>
            </p:cNvPr>
            <p:cNvCxnSpPr>
              <a:cxnSpLocks/>
              <a:stCxn id="517"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sp>
        <p:nvSpPr>
          <p:cNvPr id="523" name="TextBox 522">
            <a:extLst>
              <a:ext uri="{FF2B5EF4-FFF2-40B4-BE49-F238E27FC236}">
                <a16:creationId xmlns:a16="http://schemas.microsoft.com/office/drawing/2014/main" id="{5362705D-6998-5A3C-5098-D4821042E8A3}"/>
              </a:ext>
            </a:extLst>
          </p:cNvPr>
          <p:cNvSpPr txBox="1"/>
          <p:nvPr/>
        </p:nvSpPr>
        <p:spPr bwMode="gray">
          <a:xfrm>
            <a:off x="8349318" y="4066955"/>
            <a:ext cx="821547" cy="338554"/>
          </a:xfrm>
          <a:prstGeom prst="rect">
            <a:avLst/>
          </a:prstGeom>
          <a:noFill/>
        </p:spPr>
        <p:txBody>
          <a:bodyPr wrap="square" lIns="0" tIns="0" rIns="0" bIns="0" rtlCol="0">
            <a:spAutoFit/>
          </a:bodyPr>
          <a:lstStyle/>
          <a:p>
            <a:r>
              <a:rPr lang="en-US" sz="1100" dirty="0">
                <a:solidFill>
                  <a:srgbClr val="000000"/>
                </a:solidFill>
              </a:rPr>
              <a:t>Event</a:t>
            </a:r>
          </a:p>
          <a:p>
            <a:r>
              <a:rPr lang="en-US" sz="1100" dirty="0">
                <a:solidFill>
                  <a:srgbClr val="000000"/>
                </a:solidFill>
              </a:rPr>
              <a:t>stream</a:t>
            </a:r>
          </a:p>
        </p:txBody>
      </p:sp>
      <p:sp>
        <p:nvSpPr>
          <p:cNvPr id="534" name="TextBox 533">
            <a:extLst>
              <a:ext uri="{FF2B5EF4-FFF2-40B4-BE49-F238E27FC236}">
                <a16:creationId xmlns:a16="http://schemas.microsoft.com/office/drawing/2014/main" id="{9208F21E-277A-28D3-643D-5FAB45162247}"/>
              </a:ext>
            </a:extLst>
          </p:cNvPr>
          <p:cNvSpPr txBox="1"/>
          <p:nvPr/>
        </p:nvSpPr>
        <p:spPr bwMode="gray">
          <a:xfrm>
            <a:off x="10093352" y="4602115"/>
            <a:ext cx="696380" cy="338554"/>
          </a:xfrm>
          <a:prstGeom prst="rect">
            <a:avLst/>
          </a:prstGeom>
          <a:noFill/>
        </p:spPr>
        <p:txBody>
          <a:bodyPr wrap="square" lIns="0" tIns="0" rIns="0" bIns="0" rtlCol="0">
            <a:spAutoFit/>
          </a:bodyPr>
          <a:lstStyle/>
          <a:p>
            <a:r>
              <a:rPr lang="en-US" sz="1100" dirty="0">
                <a:solidFill>
                  <a:srgbClr val="000000"/>
                </a:solidFill>
              </a:rPr>
              <a:t>Stream</a:t>
            </a:r>
          </a:p>
          <a:p>
            <a:r>
              <a:rPr lang="en-US" sz="1100" dirty="0">
                <a:solidFill>
                  <a:srgbClr val="000000"/>
                </a:solidFill>
              </a:rPr>
              <a:t>processing</a:t>
            </a:r>
          </a:p>
        </p:txBody>
      </p:sp>
      <p:pic>
        <p:nvPicPr>
          <p:cNvPr id="535" name="Picture 2">
            <a:extLst>
              <a:ext uri="{FF2B5EF4-FFF2-40B4-BE49-F238E27FC236}">
                <a16:creationId xmlns:a16="http://schemas.microsoft.com/office/drawing/2014/main" id="{6D5DF63F-FE51-D0C7-2B19-449317DE7F1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rot="5400000">
            <a:off x="9798117" y="4628203"/>
            <a:ext cx="184102" cy="286381"/>
          </a:xfrm>
          <a:prstGeom prst="rect">
            <a:avLst/>
          </a:prstGeom>
          <a:noFill/>
          <a:extLst>
            <a:ext uri="{909E8E84-426E-40DD-AFC4-6F175D3DCCD1}">
              <a14:hiddenFill xmlns:a14="http://schemas.microsoft.com/office/drawing/2010/main">
                <a:solidFill>
                  <a:srgbClr val="FFFFFF"/>
                </a:solidFill>
              </a14:hiddenFill>
            </a:ext>
          </a:extLst>
        </p:spPr>
      </p:pic>
      <p:pic>
        <p:nvPicPr>
          <p:cNvPr id="537" name="Picture 4">
            <a:extLst>
              <a:ext uri="{FF2B5EF4-FFF2-40B4-BE49-F238E27FC236}">
                <a16:creationId xmlns:a16="http://schemas.microsoft.com/office/drawing/2014/main" id="{1F75FBB2-EAB3-016A-14C4-E308ACB3D28E}"/>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rot="16200000">
            <a:off x="8792327" y="4644400"/>
            <a:ext cx="198729" cy="278220"/>
          </a:xfrm>
          <a:prstGeom prst="rect">
            <a:avLst/>
          </a:prstGeom>
          <a:noFill/>
          <a:extLst>
            <a:ext uri="{909E8E84-426E-40DD-AFC4-6F175D3DCCD1}">
              <a14:hiddenFill xmlns:a14="http://schemas.microsoft.com/office/drawing/2010/main">
                <a:solidFill>
                  <a:srgbClr val="FFFFFF"/>
                </a:solidFill>
              </a14:hiddenFill>
            </a:ext>
          </a:extLst>
        </p:spPr>
      </p:pic>
      <p:sp>
        <p:nvSpPr>
          <p:cNvPr id="538" name="TextBox 537">
            <a:extLst>
              <a:ext uri="{FF2B5EF4-FFF2-40B4-BE49-F238E27FC236}">
                <a16:creationId xmlns:a16="http://schemas.microsoft.com/office/drawing/2014/main" id="{6640E43B-4E78-E9E5-FD03-588C2F3E9816}"/>
              </a:ext>
            </a:extLst>
          </p:cNvPr>
          <p:cNvSpPr txBox="1"/>
          <p:nvPr/>
        </p:nvSpPr>
        <p:spPr bwMode="gray">
          <a:xfrm>
            <a:off x="9096926" y="4614233"/>
            <a:ext cx="696380" cy="338554"/>
          </a:xfrm>
          <a:prstGeom prst="rect">
            <a:avLst/>
          </a:prstGeom>
          <a:noFill/>
        </p:spPr>
        <p:txBody>
          <a:bodyPr wrap="square" lIns="0" tIns="0" rIns="0" bIns="0" rtlCol="0">
            <a:spAutoFit/>
          </a:bodyPr>
          <a:lstStyle/>
          <a:p>
            <a:r>
              <a:rPr lang="en-US" sz="1100" dirty="0">
                <a:solidFill>
                  <a:srgbClr val="000000"/>
                </a:solidFill>
              </a:rPr>
              <a:t>Event</a:t>
            </a:r>
          </a:p>
          <a:p>
            <a:r>
              <a:rPr lang="en-US" sz="1100" dirty="0">
                <a:solidFill>
                  <a:srgbClr val="000000"/>
                </a:solidFill>
              </a:rPr>
              <a:t>mapping</a:t>
            </a:r>
          </a:p>
        </p:txBody>
      </p:sp>
      <p:pic>
        <p:nvPicPr>
          <p:cNvPr id="539" name="Picture 2">
            <a:extLst>
              <a:ext uri="{FF2B5EF4-FFF2-40B4-BE49-F238E27FC236}">
                <a16:creationId xmlns:a16="http://schemas.microsoft.com/office/drawing/2014/main" id="{5FF0E647-A2B5-07AE-C7C1-3384B3FD3B8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rot="5400000">
            <a:off x="8045289" y="4093043"/>
            <a:ext cx="184102" cy="286381"/>
          </a:xfrm>
          <a:prstGeom prst="rect">
            <a:avLst/>
          </a:prstGeom>
          <a:noFill/>
          <a:extLst>
            <a:ext uri="{909E8E84-426E-40DD-AFC4-6F175D3DCCD1}">
              <a14:hiddenFill xmlns:a14="http://schemas.microsoft.com/office/drawing/2010/main">
                <a:solidFill>
                  <a:srgbClr val="FFFFFF"/>
                </a:solidFill>
              </a14:hiddenFill>
            </a:ext>
          </a:extLst>
        </p:spPr>
      </p:pic>
      <p:pic>
        <p:nvPicPr>
          <p:cNvPr id="540" name="Picture 6">
            <a:extLst>
              <a:ext uri="{FF2B5EF4-FFF2-40B4-BE49-F238E27FC236}">
                <a16:creationId xmlns:a16="http://schemas.microsoft.com/office/drawing/2014/main" id="{3B37DF16-02C7-59BC-AB77-2680E7C9E46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982353" y="4139010"/>
            <a:ext cx="262499" cy="194444"/>
          </a:xfrm>
          <a:prstGeom prst="rect">
            <a:avLst/>
          </a:prstGeom>
          <a:noFill/>
          <a:extLst>
            <a:ext uri="{909E8E84-426E-40DD-AFC4-6F175D3DCCD1}">
              <a14:hiddenFill xmlns:a14="http://schemas.microsoft.com/office/drawing/2010/main">
                <a:solidFill>
                  <a:srgbClr val="FFFFFF"/>
                </a:solidFill>
              </a14:hiddenFill>
            </a:ext>
          </a:extLst>
        </p:spPr>
      </p:pic>
      <p:sp>
        <p:nvSpPr>
          <p:cNvPr id="541" name="TextBox 540">
            <a:extLst>
              <a:ext uri="{FF2B5EF4-FFF2-40B4-BE49-F238E27FC236}">
                <a16:creationId xmlns:a16="http://schemas.microsoft.com/office/drawing/2014/main" id="{637665E7-2EBC-20FB-D39D-8BB5702018AE}"/>
              </a:ext>
            </a:extLst>
          </p:cNvPr>
          <p:cNvSpPr txBox="1"/>
          <p:nvPr/>
        </p:nvSpPr>
        <p:spPr bwMode="gray">
          <a:xfrm>
            <a:off x="7279028" y="4066955"/>
            <a:ext cx="821547" cy="338554"/>
          </a:xfrm>
          <a:prstGeom prst="rect">
            <a:avLst/>
          </a:prstGeom>
          <a:noFill/>
        </p:spPr>
        <p:txBody>
          <a:bodyPr wrap="square" lIns="0" tIns="0" rIns="0" bIns="0" rtlCol="0">
            <a:spAutoFit/>
          </a:bodyPr>
          <a:lstStyle/>
          <a:p>
            <a:r>
              <a:rPr lang="en-US" sz="1100" dirty="0">
                <a:solidFill>
                  <a:srgbClr val="000000"/>
                </a:solidFill>
              </a:rPr>
              <a:t>Event</a:t>
            </a:r>
          </a:p>
          <a:p>
            <a:r>
              <a:rPr lang="en-US" sz="1100" dirty="0">
                <a:solidFill>
                  <a:srgbClr val="000000"/>
                </a:solidFill>
              </a:rPr>
              <a:t>broker</a:t>
            </a:r>
          </a:p>
        </p:txBody>
      </p:sp>
      <p:sp>
        <p:nvSpPr>
          <p:cNvPr id="542" name="Rectangle 541">
            <a:extLst>
              <a:ext uri="{FF2B5EF4-FFF2-40B4-BE49-F238E27FC236}">
                <a16:creationId xmlns:a16="http://schemas.microsoft.com/office/drawing/2014/main" id="{0E901354-0EDA-905D-3973-592041E7F874}"/>
              </a:ext>
            </a:extLst>
          </p:cNvPr>
          <p:cNvSpPr/>
          <p:nvPr/>
        </p:nvSpPr>
        <p:spPr bwMode="gray">
          <a:xfrm>
            <a:off x="2028273" y="4023091"/>
            <a:ext cx="8838975" cy="427521"/>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46" name="TextBox 545">
            <a:extLst>
              <a:ext uri="{FF2B5EF4-FFF2-40B4-BE49-F238E27FC236}">
                <a16:creationId xmlns:a16="http://schemas.microsoft.com/office/drawing/2014/main" id="{63A60A2D-FE1E-CEF5-749C-291702060F96}"/>
              </a:ext>
            </a:extLst>
          </p:cNvPr>
          <p:cNvSpPr txBox="1"/>
          <p:nvPr/>
        </p:nvSpPr>
        <p:spPr>
          <a:xfrm>
            <a:off x="2087803" y="4021076"/>
            <a:ext cx="1082857" cy="430887"/>
          </a:xfrm>
          <a:prstGeom prst="rect">
            <a:avLst/>
          </a:prstGeom>
          <a:noFill/>
        </p:spPr>
        <p:txBody>
          <a:bodyPr wrap="square" lIns="0" rtlCol="0">
            <a:spAutoFit/>
          </a:bodyPr>
          <a:lstStyle/>
          <a:p>
            <a:pPr algn="l"/>
            <a:r>
              <a:rPr lang="en-US" sz="1100" b="1" dirty="0"/>
              <a:t>Mediation </a:t>
            </a:r>
            <a:br>
              <a:rPr lang="en-US" sz="1100" b="1" dirty="0"/>
            </a:br>
            <a:r>
              <a:rPr lang="en-US" sz="1100" b="1" dirty="0"/>
              <a:t>technologies</a:t>
            </a:r>
          </a:p>
        </p:txBody>
      </p:sp>
      <p:pic>
        <p:nvPicPr>
          <p:cNvPr id="551" name="Picture 8">
            <a:extLst>
              <a:ext uri="{FF2B5EF4-FFF2-40B4-BE49-F238E27FC236}">
                <a16:creationId xmlns:a16="http://schemas.microsoft.com/office/drawing/2014/main" id="{83683F70-9D6A-17AD-1DBE-13FF565F31ED}"/>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28599" y="6643679"/>
            <a:ext cx="182202" cy="253305"/>
          </a:xfrm>
          <a:prstGeom prst="rect">
            <a:avLst/>
          </a:prstGeom>
          <a:noFill/>
          <a:extLst>
            <a:ext uri="{909E8E84-426E-40DD-AFC4-6F175D3DCCD1}">
              <a14:hiddenFill xmlns:a14="http://schemas.microsoft.com/office/drawing/2010/main">
                <a:solidFill>
                  <a:srgbClr val="FFFFFF"/>
                </a:solidFill>
              </a14:hiddenFill>
            </a:ext>
          </a:extLst>
        </p:spPr>
      </p:pic>
      <p:sp>
        <p:nvSpPr>
          <p:cNvPr id="552" name="TextBox 551">
            <a:extLst>
              <a:ext uri="{FF2B5EF4-FFF2-40B4-BE49-F238E27FC236}">
                <a16:creationId xmlns:a16="http://schemas.microsoft.com/office/drawing/2014/main" id="{7278A2B9-9089-1CF9-896F-88EDD96785EC}"/>
              </a:ext>
            </a:extLst>
          </p:cNvPr>
          <p:cNvSpPr txBox="1"/>
          <p:nvPr/>
        </p:nvSpPr>
        <p:spPr bwMode="gray">
          <a:xfrm>
            <a:off x="3675152" y="6643678"/>
            <a:ext cx="1108900" cy="261610"/>
          </a:xfrm>
          <a:prstGeom prst="rect">
            <a:avLst/>
          </a:prstGeom>
          <a:noFill/>
        </p:spPr>
        <p:txBody>
          <a:bodyPr wrap="square" rIns="0" rtlCol="0">
            <a:spAutoFit/>
          </a:bodyPr>
          <a:lstStyle/>
          <a:p>
            <a:r>
              <a:rPr lang="en-US" sz="1100" dirty="0">
                <a:solidFill>
                  <a:srgbClr val="000000"/>
                </a:solidFill>
              </a:rPr>
              <a:t>BFF service</a:t>
            </a:r>
          </a:p>
        </p:txBody>
      </p:sp>
      <p:sp>
        <p:nvSpPr>
          <p:cNvPr id="569" name="Rectangle 568">
            <a:extLst>
              <a:ext uri="{FF2B5EF4-FFF2-40B4-BE49-F238E27FC236}">
                <a16:creationId xmlns:a16="http://schemas.microsoft.com/office/drawing/2014/main" id="{D5BDBDF6-CCE2-48F9-2BC7-044AAE0A5E5B}"/>
              </a:ext>
            </a:extLst>
          </p:cNvPr>
          <p:cNvSpPr/>
          <p:nvPr/>
        </p:nvSpPr>
        <p:spPr bwMode="gray">
          <a:xfrm>
            <a:off x="2055187" y="1956182"/>
            <a:ext cx="3515291" cy="743176"/>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70" name="TextBox 569">
            <a:extLst>
              <a:ext uri="{FF2B5EF4-FFF2-40B4-BE49-F238E27FC236}">
                <a16:creationId xmlns:a16="http://schemas.microsoft.com/office/drawing/2014/main" id="{39977BF0-08B1-0334-88AF-25036C3FB11F}"/>
              </a:ext>
            </a:extLst>
          </p:cNvPr>
          <p:cNvSpPr txBox="1"/>
          <p:nvPr/>
        </p:nvSpPr>
        <p:spPr>
          <a:xfrm>
            <a:off x="3443225" y="1704076"/>
            <a:ext cx="1139037" cy="261610"/>
          </a:xfrm>
          <a:prstGeom prst="rect">
            <a:avLst/>
          </a:prstGeom>
          <a:noFill/>
        </p:spPr>
        <p:txBody>
          <a:bodyPr wrap="square" lIns="0" rtlCol="0">
            <a:spAutoFit/>
          </a:bodyPr>
          <a:lstStyle/>
          <a:p>
            <a:pPr algn="l"/>
            <a:r>
              <a:rPr lang="en-US" sz="1100" b="1" dirty="0"/>
              <a:t>User interfaces</a:t>
            </a:r>
          </a:p>
        </p:txBody>
      </p:sp>
      <p:pic>
        <p:nvPicPr>
          <p:cNvPr id="571" name="Picture 10">
            <a:extLst>
              <a:ext uri="{FF2B5EF4-FFF2-40B4-BE49-F238E27FC236}">
                <a16:creationId xmlns:a16="http://schemas.microsoft.com/office/drawing/2014/main" id="{FA583891-5F64-2D2F-CB86-4EF3590FF5BA}"/>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142182" y="2021959"/>
            <a:ext cx="255773" cy="23978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8E4BC53D-2FB9-D346-2583-831C834AA161}"/>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989358" y="2032495"/>
            <a:ext cx="177938" cy="247377"/>
          </a:xfrm>
          <a:prstGeom prst="rect">
            <a:avLst/>
          </a:prstGeom>
          <a:noFill/>
          <a:extLst>
            <a:ext uri="{909E8E84-426E-40DD-AFC4-6F175D3DCCD1}">
              <a14:hiddenFill xmlns:a14="http://schemas.microsoft.com/office/drawing/2010/main">
                <a:solidFill>
                  <a:srgbClr val="FFFFFF"/>
                </a:solidFill>
              </a14:hiddenFill>
            </a:ext>
          </a:extLst>
        </p:spPr>
      </p:pic>
      <p:sp>
        <p:nvSpPr>
          <p:cNvPr id="572" name="TextBox 571">
            <a:extLst>
              <a:ext uri="{FF2B5EF4-FFF2-40B4-BE49-F238E27FC236}">
                <a16:creationId xmlns:a16="http://schemas.microsoft.com/office/drawing/2014/main" id="{26B04E90-B315-D119-5E3F-95466EAA7D7D}"/>
              </a:ext>
            </a:extLst>
          </p:cNvPr>
          <p:cNvSpPr txBox="1"/>
          <p:nvPr/>
        </p:nvSpPr>
        <p:spPr bwMode="gray">
          <a:xfrm>
            <a:off x="5766371" y="2320309"/>
            <a:ext cx="1007392" cy="338554"/>
          </a:xfrm>
          <a:prstGeom prst="rect">
            <a:avLst/>
          </a:prstGeom>
          <a:noFill/>
        </p:spPr>
        <p:txBody>
          <a:bodyPr wrap="square" lIns="0" tIns="0" rIns="0" bIns="0" rtlCol="0">
            <a:spAutoFit/>
          </a:bodyPr>
          <a:lstStyle/>
          <a:p>
            <a:pPr algn="ctr"/>
            <a:r>
              <a:rPr lang="en-US" sz="1100" dirty="0">
                <a:solidFill>
                  <a:srgbClr val="000000"/>
                </a:solidFill>
              </a:rPr>
              <a:t>Modular client components</a:t>
            </a:r>
          </a:p>
        </p:txBody>
      </p:sp>
      <p:sp>
        <p:nvSpPr>
          <p:cNvPr id="573" name="TextBox 572">
            <a:extLst>
              <a:ext uri="{FF2B5EF4-FFF2-40B4-BE49-F238E27FC236}">
                <a16:creationId xmlns:a16="http://schemas.microsoft.com/office/drawing/2014/main" id="{26714821-CC21-6107-0D53-5937AFD7098C}"/>
              </a:ext>
            </a:extLst>
          </p:cNvPr>
          <p:cNvSpPr txBox="1"/>
          <p:nvPr/>
        </p:nvSpPr>
        <p:spPr bwMode="gray">
          <a:xfrm>
            <a:off x="6802426" y="2285177"/>
            <a:ext cx="521188" cy="338554"/>
          </a:xfrm>
          <a:prstGeom prst="rect">
            <a:avLst/>
          </a:prstGeom>
          <a:noFill/>
        </p:spPr>
        <p:txBody>
          <a:bodyPr wrap="square" lIns="0" tIns="0" rIns="0" bIns="0" rtlCol="0">
            <a:spAutoFit/>
          </a:bodyPr>
          <a:lstStyle/>
          <a:p>
            <a:pPr algn="ctr"/>
            <a:r>
              <a:rPr lang="en-US" sz="1100" dirty="0">
                <a:solidFill>
                  <a:srgbClr val="000000"/>
                </a:solidFill>
              </a:rPr>
              <a:t>API access</a:t>
            </a:r>
          </a:p>
        </p:txBody>
      </p:sp>
      <p:pic>
        <p:nvPicPr>
          <p:cNvPr id="1038" name="Picture 14">
            <a:extLst>
              <a:ext uri="{FF2B5EF4-FFF2-40B4-BE49-F238E27FC236}">
                <a16:creationId xmlns:a16="http://schemas.microsoft.com/office/drawing/2014/main" id="{8443B893-E676-E8AB-5F9F-CC1C531E2BE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899676" y="2033795"/>
            <a:ext cx="173238" cy="24253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9666E9-BA94-C552-354E-DBF90359DE1A}"/>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287560" y="2065289"/>
            <a:ext cx="162422" cy="216563"/>
          </a:xfrm>
          <a:prstGeom prst="rect">
            <a:avLst/>
          </a:prstGeom>
          <a:noFill/>
          <a:extLst>
            <a:ext uri="{909E8E84-426E-40DD-AFC4-6F175D3DCCD1}">
              <a14:hiddenFill xmlns:a14="http://schemas.microsoft.com/office/drawing/2010/main">
                <a:solidFill>
                  <a:srgbClr val="FFFFFF"/>
                </a:solidFill>
              </a14:hiddenFill>
            </a:ext>
          </a:extLst>
        </p:spPr>
      </p:pic>
      <p:sp>
        <p:nvSpPr>
          <p:cNvPr id="575" name="TextBox 574">
            <a:extLst>
              <a:ext uri="{FF2B5EF4-FFF2-40B4-BE49-F238E27FC236}">
                <a16:creationId xmlns:a16="http://schemas.microsoft.com/office/drawing/2014/main" id="{540C1986-C671-ED3A-37FC-3BD9E2178B47}"/>
              </a:ext>
            </a:extLst>
          </p:cNvPr>
          <p:cNvSpPr txBox="1"/>
          <p:nvPr/>
        </p:nvSpPr>
        <p:spPr>
          <a:xfrm>
            <a:off x="6017563" y="1705556"/>
            <a:ext cx="1416181" cy="261610"/>
          </a:xfrm>
          <a:prstGeom prst="rect">
            <a:avLst/>
          </a:prstGeom>
          <a:noFill/>
        </p:spPr>
        <p:txBody>
          <a:bodyPr wrap="square" lIns="0" rtlCol="0">
            <a:spAutoFit/>
          </a:bodyPr>
          <a:lstStyle/>
          <a:p>
            <a:pPr algn="l"/>
            <a:r>
              <a:rPr lang="en-US" sz="1100" b="1" dirty="0"/>
              <a:t>Client app logic</a:t>
            </a:r>
          </a:p>
        </p:txBody>
      </p:sp>
      <p:sp>
        <p:nvSpPr>
          <p:cNvPr id="128" name="TextBox 127">
            <a:extLst>
              <a:ext uri="{FF2B5EF4-FFF2-40B4-BE49-F238E27FC236}">
                <a16:creationId xmlns:a16="http://schemas.microsoft.com/office/drawing/2014/main" id="{D42DBAF9-9660-F604-C82B-FC8BFC8407AA}"/>
              </a:ext>
            </a:extLst>
          </p:cNvPr>
          <p:cNvSpPr txBox="1"/>
          <p:nvPr/>
        </p:nvSpPr>
        <p:spPr>
          <a:xfrm>
            <a:off x="8115823" y="1680689"/>
            <a:ext cx="1297472" cy="261610"/>
          </a:xfrm>
          <a:prstGeom prst="rect">
            <a:avLst/>
          </a:prstGeom>
          <a:noFill/>
        </p:spPr>
        <p:txBody>
          <a:bodyPr wrap="square" lIns="0" rtlCol="0">
            <a:spAutoFit/>
          </a:bodyPr>
          <a:lstStyle/>
          <a:p>
            <a:pPr algn="l"/>
            <a:r>
              <a:rPr lang="en-US" sz="1100" b="1" dirty="0"/>
              <a:t>Client app state</a:t>
            </a:r>
          </a:p>
        </p:txBody>
      </p:sp>
      <p:sp>
        <p:nvSpPr>
          <p:cNvPr id="129" name="TextBox 128">
            <a:extLst>
              <a:ext uri="{FF2B5EF4-FFF2-40B4-BE49-F238E27FC236}">
                <a16:creationId xmlns:a16="http://schemas.microsoft.com/office/drawing/2014/main" id="{7A431269-0AF0-B47D-A6F2-02A7A181C1F5}"/>
              </a:ext>
            </a:extLst>
          </p:cNvPr>
          <p:cNvSpPr txBox="1"/>
          <p:nvPr/>
        </p:nvSpPr>
        <p:spPr bwMode="gray">
          <a:xfrm>
            <a:off x="7725701" y="2281263"/>
            <a:ext cx="521188" cy="338554"/>
          </a:xfrm>
          <a:prstGeom prst="rect">
            <a:avLst/>
          </a:prstGeom>
          <a:noFill/>
        </p:spPr>
        <p:txBody>
          <a:bodyPr wrap="square" lIns="0" tIns="0" rIns="0" bIns="0" rtlCol="0">
            <a:spAutoFit/>
          </a:bodyPr>
          <a:lstStyle/>
          <a:p>
            <a:pPr algn="ctr"/>
            <a:r>
              <a:rPr lang="en-US" sz="1100" dirty="0">
                <a:solidFill>
                  <a:srgbClr val="000000"/>
                </a:solidFill>
              </a:rPr>
              <a:t>Local storage</a:t>
            </a:r>
          </a:p>
        </p:txBody>
      </p:sp>
      <p:sp>
        <p:nvSpPr>
          <p:cNvPr id="130" name="TextBox 129">
            <a:extLst>
              <a:ext uri="{FF2B5EF4-FFF2-40B4-BE49-F238E27FC236}">
                <a16:creationId xmlns:a16="http://schemas.microsoft.com/office/drawing/2014/main" id="{196FB43B-C750-E816-1C0D-49C07B87BF88}"/>
              </a:ext>
            </a:extLst>
          </p:cNvPr>
          <p:cNvSpPr txBox="1"/>
          <p:nvPr/>
        </p:nvSpPr>
        <p:spPr bwMode="gray">
          <a:xfrm>
            <a:off x="9178941" y="2315807"/>
            <a:ext cx="379660" cy="338554"/>
          </a:xfrm>
          <a:prstGeom prst="rect">
            <a:avLst/>
          </a:prstGeom>
          <a:noFill/>
        </p:spPr>
        <p:txBody>
          <a:bodyPr wrap="square" lIns="0" tIns="0" rIns="0" bIns="0" rtlCol="0">
            <a:spAutoFit/>
          </a:bodyPr>
          <a:lstStyle/>
          <a:p>
            <a:pPr algn="ctr"/>
            <a:r>
              <a:rPr lang="en-US" sz="1100" dirty="0">
                <a:solidFill>
                  <a:srgbClr val="000000"/>
                </a:solidFill>
              </a:rPr>
              <a:t>Local DB</a:t>
            </a:r>
          </a:p>
        </p:txBody>
      </p:sp>
      <p:pic>
        <p:nvPicPr>
          <p:cNvPr id="1042" name="Picture 18">
            <a:extLst>
              <a:ext uri="{FF2B5EF4-FFF2-40B4-BE49-F238E27FC236}">
                <a16:creationId xmlns:a16="http://schemas.microsoft.com/office/drawing/2014/main" id="{FDAB5E7D-DE85-8351-8CA4-889F500C7B27}"/>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607491" y="2049849"/>
            <a:ext cx="226479" cy="226479"/>
          </a:xfrm>
          <a:prstGeom prst="rect">
            <a:avLst/>
          </a:prstGeom>
          <a:noFill/>
          <a:extLst>
            <a:ext uri="{909E8E84-426E-40DD-AFC4-6F175D3DCCD1}">
              <a14:hiddenFill xmlns:a14="http://schemas.microsoft.com/office/drawing/2010/main">
                <a:solidFill>
                  <a:srgbClr val="FFFFFF"/>
                </a:solidFill>
              </a14:hiddenFill>
            </a:ext>
          </a:extLst>
        </p:spPr>
      </p:pic>
      <p:sp>
        <p:nvSpPr>
          <p:cNvPr id="131" name="TextBox 130">
            <a:extLst>
              <a:ext uri="{FF2B5EF4-FFF2-40B4-BE49-F238E27FC236}">
                <a16:creationId xmlns:a16="http://schemas.microsoft.com/office/drawing/2014/main" id="{55BAF531-E929-7527-C6F0-56B3F1E29551}"/>
              </a:ext>
            </a:extLst>
          </p:cNvPr>
          <p:cNvSpPr txBox="1"/>
          <p:nvPr/>
        </p:nvSpPr>
        <p:spPr bwMode="gray">
          <a:xfrm>
            <a:off x="8386233" y="2307137"/>
            <a:ext cx="668995" cy="338554"/>
          </a:xfrm>
          <a:prstGeom prst="rect">
            <a:avLst/>
          </a:prstGeom>
          <a:noFill/>
        </p:spPr>
        <p:txBody>
          <a:bodyPr wrap="square" lIns="0" tIns="0" rIns="0" bIns="0" rtlCol="0">
            <a:spAutoFit/>
          </a:bodyPr>
          <a:lstStyle/>
          <a:p>
            <a:pPr algn="ctr"/>
            <a:r>
              <a:rPr lang="en-US" sz="1100" dirty="0">
                <a:solidFill>
                  <a:srgbClr val="000000"/>
                </a:solidFill>
              </a:rPr>
              <a:t>In-memory state</a:t>
            </a:r>
          </a:p>
        </p:txBody>
      </p:sp>
      <p:sp>
        <p:nvSpPr>
          <p:cNvPr id="132" name="Rectangle 131">
            <a:extLst>
              <a:ext uri="{FF2B5EF4-FFF2-40B4-BE49-F238E27FC236}">
                <a16:creationId xmlns:a16="http://schemas.microsoft.com/office/drawing/2014/main" id="{83DF8675-A23C-B2F3-758A-2802BCA7361D}"/>
              </a:ext>
            </a:extLst>
          </p:cNvPr>
          <p:cNvSpPr/>
          <p:nvPr/>
        </p:nvSpPr>
        <p:spPr bwMode="gray">
          <a:xfrm>
            <a:off x="7594914" y="1972066"/>
            <a:ext cx="1994510" cy="732879"/>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43" name="TextBox 142">
            <a:extLst>
              <a:ext uri="{FF2B5EF4-FFF2-40B4-BE49-F238E27FC236}">
                <a16:creationId xmlns:a16="http://schemas.microsoft.com/office/drawing/2014/main" id="{75BC0B61-4546-64CF-EA30-157DB013626E}"/>
              </a:ext>
            </a:extLst>
          </p:cNvPr>
          <p:cNvSpPr txBox="1"/>
          <p:nvPr/>
        </p:nvSpPr>
        <p:spPr>
          <a:xfrm>
            <a:off x="9130917" y="7362330"/>
            <a:ext cx="1389592" cy="261610"/>
          </a:xfrm>
          <a:prstGeom prst="rect">
            <a:avLst/>
          </a:prstGeom>
          <a:noFill/>
        </p:spPr>
        <p:txBody>
          <a:bodyPr wrap="square" lIns="0" rtlCol="0">
            <a:spAutoFit/>
          </a:bodyPr>
          <a:lstStyle/>
          <a:p>
            <a:pPr algn="l"/>
            <a:r>
              <a:rPr lang="en-US" sz="1100" b="1" dirty="0"/>
              <a:t>Application state</a:t>
            </a:r>
          </a:p>
        </p:txBody>
      </p:sp>
      <p:pic>
        <p:nvPicPr>
          <p:cNvPr id="146" name="Picture 14">
            <a:extLst>
              <a:ext uri="{FF2B5EF4-FFF2-40B4-BE49-F238E27FC236}">
                <a16:creationId xmlns:a16="http://schemas.microsoft.com/office/drawing/2014/main" id="{F84809F6-260B-478D-7956-599FD0B531B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656292" y="6187016"/>
            <a:ext cx="173238" cy="242533"/>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6">
            <a:extLst>
              <a:ext uri="{FF2B5EF4-FFF2-40B4-BE49-F238E27FC236}">
                <a16:creationId xmlns:a16="http://schemas.microsoft.com/office/drawing/2014/main" id="{31C91C46-142E-F138-7816-44F744604411}"/>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656236" y="6731480"/>
            <a:ext cx="162422" cy="216563"/>
          </a:xfrm>
          <a:prstGeom prst="rect">
            <a:avLst/>
          </a:prstGeom>
          <a:noFill/>
          <a:extLst>
            <a:ext uri="{909E8E84-426E-40DD-AFC4-6F175D3DCCD1}">
              <a14:hiddenFill xmlns:a14="http://schemas.microsoft.com/office/drawing/2010/main">
                <a:solidFill>
                  <a:srgbClr val="FFFFFF"/>
                </a:solidFill>
              </a14:hiddenFill>
            </a:ext>
          </a:extLst>
        </p:spPr>
      </p:pic>
      <p:sp>
        <p:nvSpPr>
          <p:cNvPr id="148" name="TextBox 147">
            <a:extLst>
              <a:ext uri="{FF2B5EF4-FFF2-40B4-BE49-F238E27FC236}">
                <a16:creationId xmlns:a16="http://schemas.microsoft.com/office/drawing/2014/main" id="{100CE74D-F3B0-EE43-3349-C8E3F705FE08}"/>
              </a:ext>
            </a:extLst>
          </p:cNvPr>
          <p:cNvSpPr txBox="1"/>
          <p:nvPr/>
        </p:nvSpPr>
        <p:spPr bwMode="gray">
          <a:xfrm>
            <a:off x="8891691" y="6153776"/>
            <a:ext cx="952084" cy="338554"/>
          </a:xfrm>
          <a:prstGeom prst="rect">
            <a:avLst/>
          </a:prstGeom>
          <a:noFill/>
        </p:spPr>
        <p:txBody>
          <a:bodyPr wrap="square" lIns="0" tIns="0" rIns="0" bIns="0" rtlCol="0">
            <a:spAutoFit/>
          </a:bodyPr>
          <a:lstStyle/>
          <a:p>
            <a:r>
              <a:rPr lang="en-US" sz="1100" dirty="0">
                <a:solidFill>
                  <a:srgbClr val="000000"/>
                </a:solidFill>
              </a:rPr>
              <a:t>BFF storage and database</a:t>
            </a:r>
          </a:p>
        </p:txBody>
      </p:sp>
      <p:sp>
        <p:nvSpPr>
          <p:cNvPr id="149" name="TextBox 148">
            <a:extLst>
              <a:ext uri="{FF2B5EF4-FFF2-40B4-BE49-F238E27FC236}">
                <a16:creationId xmlns:a16="http://schemas.microsoft.com/office/drawing/2014/main" id="{43012729-7321-3BAE-8071-0C22CFD9D813}"/>
              </a:ext>
            </a:extLst>
          </p:cNvPr>
          <p:cNvSpPr txBox="1"/>
          <p:nvPr/>
        </p:nvSpPr>
        <p:spPr bwMode="gray">
          <a:xfrm>
            <a:off x="8883047" y="6702097"/>
            <a:ext cx="1001962" cy="338554"/>
          </a:xfrm>
          <a:prstGeom prst="rect">
            <a:avLst/>
          </a:prstGeom>
          <a:noFill/>
        </p:spPr>
        <p:txBody>
          <a:bodyPr wrap="square" lIns="0" tIns="0" rIns="0" bIns="0" rtlCol="0">
            <a:spAutoFit/>
          </a:bodyPr>
          <a:lstStyle/>
          <a:p>
            <a:r>
              <a:rPr lang="en-US" sz="1100" dirty="0">
                <a:solidFill>
                  <a:srgbClr val="000000"/>
                </a:solidFill>
              </a:rPr>
              <a:t>Service storage </a:t>
            </a:r>
            <a:br>
              <a:rPr lang="en-US" sz="1100" dirty="0">
                <a:solidFill>
                  <a:srgbClr val="000000"/>
                </a:solidFill>
              </a:rPr>
            </a:br>
            <a:r>
              <a:rPr lang="en-US" sz="1100" dirty="0">
                <a:solidFill>
                  <a:srgbClr val="000000"/>
                </a:solidFill>
              </a:rPr>
              <a:t>and databases</a:t>
            </a:r>
          </a:p>
        </p:txBody>
      </p:sp>
      <p:pic>
        <p:nvPicPr>
          <p:cNvPr id="150" name="Picture 18">
            <a:extLst>
              <a:ext uri="{FF2B5EF4-FFF2-40B4-BE49-F238E27FC236}">
                <a16:creationId xmlns:a16="http://schemas.microsoft.com/office/drawing/2014/main" id="{8EFCB043-9715-A796-861F-837A95C5BA56}"/>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0045198" y="6185261"/>
            <a:ext cx="226479" cy="226479"/>
          </a:xfrm>
          <a:prstGeom prst="rect">
            <a:avLst/>
          </a:prstGeom>
          <a:noFill/>
          <a:extLst>
            <a:ext uri="{909E8E84-426E-40DD-AFC4-6F175D3DCCD1}">
              <a14:hiddenFill xmlns:a14="http://schemas.microsoft.com/office/drawing/2010/main">
                <a:solidFill>
                  <a:srgbClr val="FFFFFF"/>
                </a:solidFill>
              </a14:hiddenFill>
            </a:ext>
          </a:extLst>
        </p:spPr>
      </p:pic>
      <p:sp>
        <p:nvSpPr>
          <p:cNvPr id="151" name="TextBox 150">
            <a:extLst>
              <a:ext uri="{FF2B5EF4-FFF2-40B4-BE49-F238E27FC236}">
                <a16:creationId xmlns:a16="http://schemas.microsoft.com/office/drawing/2014/main" id="{EE2E1403-2627-8EF1-7B0F-01D6FC9161A9}"/>
              </a:ext>
            </a:extLst>
          </p:cNvPr>
          <p:cNvSpPr txBox="1"/>
          <p:nvPr/>
        </p:nvSpPr>
        <p:spPr bwMode="gray">
          <a:xfrm>
            <a:off x="10279326" y="6214493"/>
            <a:ext cx="521188" cy="169277"/>
          </a:xfrm>
          <a:prstGeom prst="rect">
            <a:avLst/>
          </a:prstGeom>
          <a:noFill/>
        </p:spPr>
        <p:txBody>
          <a:bodyPr wrap="square" lIns="0" tIns="0" rIns="0" bIns="0" rtlCol="0">
            <a:spAutoFit/>
          </a:bodyPr>
          <a:lstStyle/>
          <a:p>
            <a:pPr algn="ctr"/>
            <a:r>
              <a:rPr lang="en-US" sz="1100" dirty="0">
                <a:solidFill>
                  <a:srgbClr val="000000"/>
                </a:solidFill>
              </a:rPr>
              <a:t>Cache</a:t>
            </a:r>
          </a:p>
        </p:txBody>
      </p:sp>
      <p:sp>
        <p:nvSpPr>
          <p:cNvPr id="152" name="Rectangle 151">
            <a:extLst>
              <a:ext uri="{FF2B5EF4-FFF2-40B4-BE49-F238E27FC236}">
                <a16:creationId xmlns:a16="http://schemas.microsoft.com/office/drawing/2014/main" id="{62D61FDD-5DEC-3A53-D316-E9414975FC03}"/>
              </a:ext>
            </a:extLst>
          </p:cNvPr>
          <p:cNvSpPr/>
          <p:nvPr/>
        </p:nvSpPr>
        <p:spPr bwMode="gray">
          <a:xfrm>
            <a:off x="8561886" y="5977162"/>
            <a:ext cx="2349508" cy="1393277"/>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62" name="TextBox 161">
            <a:extLst>
              <a:ext uri="{FF2B5EF4-FFF2-40B4-BE49-F238E27FC236}">
                <a16:creationId xmlns:a16="http://schemas.microsoft.com/office/drawing/2014/main" id="{E7535649-9AF3-D659-E40B-953D03E838E0}"/>
              </a:ext>
            </a:extLst>
          </p:cNvPr>
          <p:cNvSpPr txBox="1"/>
          <p:nvPr/>
        </p:nvSpPr>
        <p:spPr bwMode="gray">
          <a:xfrm>
            <a:off x="7661150" y="5989670"/>
            <a:ext cx="666235" cy="338554"/>
          </a:xfrm>
          <a:prstGeom prst="rect">
            <a:avLst/>
          </a:prstGeom>
          <a:noFill/>
        </p:spPr>
        <p:txBody>
          <a:bodyPr wrap="square" lIns="0" tIns="0" rIns="0" bIns="0" rtlCol="0">
            <a:spAutoFit/>
          </a:bodyPr>
          <a:lstStyle/>
          <a:p>
            <a:pPr algn="ctr"/>
            <a:r>
              <a:rPr lang="en-US" sz="1100" dirty="0">
                <a:solidFill>
                  <a:srgbClr val="000000"/>
                </a:solidFill>
              </a:rPr>
              <a:t>Event interfaces</a:t>
            </a:r>
          </a:p>
        </p:txBody>
      </p:sp>
      <p:sp>
        <p:nvSpPr>
          <p:cNvPr id="25" name="TextBox 24">
            <a:extLst>
              <a:ext uri="{FF2B5EF4-FFF2-40B4-BE49-F238E27FC236}">
                <a16:creationId xmlns:a16="http://schemas.microsoft.com/office/drawing/2014/main" id="{CB693D8C-905D-F878-BB3C-D465BF9E53AD}"/>
              </a:ext>
            </a:extLst>
          </p:cNvPr>
          <p:cNvSpPr txBox="1"/>
          <p:nvPr/>
        </p:nvSpPr>
        <p:spPr bwMode="gray">
          <a:xfrm>
            <a:off x="10206005" y="6679200"/>
            <a:ext cx="709489" cy="507831"/>
          </a:xfrm>
          <a:prstGeom prst="rect">
            <a:avLst/>
          </a:prstGeom>
          <a:noFill/>
        </p:spPr>
        <p:txBody>
          <a:bodyPr wrap="square" lIns="0" tIns="0" rIns="0" bIns="0" rtlCol="0">
            <a:spAutoFit/>
          </a:bodyPr>
          <a:lstStyle/>
          <a:p>
            <a:r>
              <a:rPr lang="en-US" sz="1100" dirty="0">
                <a:solidFill>
                  <a:srgbClr val="000000"/>
                </a:solidFill>
              </a:rPr>
              <a:t>Static and dynamic </a:t>
            </a:r>
          </a:p>
          <a:p>
            <a:r>
              <a:rPr lang="en-US" sz="1100" dirty="0">
                <a:solidFill>
                  <a:srgbClr val="000000"/>
                </a:solidFill>
              </a:rPr>
              <a:t>content</a:t>
            </a:r>
          </a:p>
        </p:txBody>
      </p:sp>
      <p:sp>
        <p:nvSpPr>
          <p:cNvPr id="17" name="TextBox 16">
            <a:extLst>
              <a:ext uri="{FF2B5EF4-FFF2-40B4-BE49-F238E27FC236}">
                <a16:creationId xmlns:a16="http://schemas.microsoft.com/office/drawing/2014/main" id="{33804307-98BA-28F9-C8EA-F8250ADE9951}"/>
              </a:ext>
            </a:extLst>
          </p:cNvPr>
          <p:cNvSpPr txBox="1"/>
          <p:nvPr/>
        </p:nvSpPr>
        <p:spPr bwMode="gray">
          <a:xfrm>
            <a:off x="4746404" y="2414247"/>
            <a:ext cx="821994" cy="169277"/>
          </a:xfrm>
          <a:prstGeom prst="rect">
            <a:avLst/>
          </a:prstGeom>
          <a:noFill/>
        </p:spPr>
        <p:txBody>
          <a:bodyPr wrap="square" lIns="0" tIns="0" rIns="0" bIns="0" rtlCol="0">
            <a:spAutoFit/>
          </a:bodyPr>
          <a:lstStyle/>
          <a:p>
            <a:pPr algn="ctr"/>
            <a:r>
              <a:rPr lang="en-US" sz="1100" dirty="0">
                <a:solidFill>
                  <a:srgbClr val="000000"/>
                </a:solidFill>
              </a:rPr>
              <a:t>AI assistant</a:t>
            </a:r>
          </a:p>
        </p:txBody>
      </p:sp>
      <p:pic>
        <p:nvPicPr>
          <p:cNvPr id="24" name="Picture 4">
            <a:extLst>
              <a:ext uri="{FF2B5EF4-FFF2-40B4-BE49-F238E27FC236}">
                <a16:creationId xmlns:a16="http://schemas.microsoft.com/office/drawing/2014/main" id="{26122B20-955D-0EAD-5A55-99495D0203DE}"/>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855662" y="4656817"/>
            <a:ext cx="253386" cy="253386"/>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A8CEE03B-A3B4-E386-6209-3902A3AD2FCA}"/>
              </a:ext>
            </a:extLst>
          </p:cNvPr>
          <p:cNvSpPr txBox="1"/>
          <p:nvPr/>
        </p:nvSpPr>
        <p:spPr bwMode="gray">
          <a:xfrm>
            <a:off x="4118016" y="4698873"/>
            <a:ext cx="569481" cy="169277"/>
          </a:xfrm>
          <a:prstGeom prst="rect">
            <a:avLst/>
          </a:prstGeom>
          <a:noFill/>
        </p:spPr>
        <p:txBody>
          <a:bodyPr wrap="square" lIns="0" tIns="0" rIns="0" bIns="0" rtlCol="0">
            <a:spAutoFit/>
          </a:bodyPr>
          <a:lstStyle/>
          <a:p>
            <a:pPr algn="ctr"/>
            <a:r>
              <a:rPr lang="en-US" sz="1100" dirty="0">
                <a:solidFill>
                  <a:srgbClr val="000000"/>
                </a:solidFill>
              </a:rPr>
              <a:t>Security</a:t>
            </a:r>
          </a:p>
        </p:txBody>
      </p:sp>
      <p:pic>
        <p:nvPicPr>
          <p:cNvPr id="40" name="Picture 6">
            <a:extLst>
              <a:ext uri="{FF2B5EF4-FFF2-40B4-BE49-F238E27FC236}">
                <a16:creationId xmlns:a16="http://schemas.microsoft.com/office/drawing/2014/main" id="{3399AC49-7AE2-324D-98A1-BBE577DC6308}"/>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970409" y="6699797"/>
            <a:ext cx="170113" cy="221147"/>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79B42321-A0A4-AA56-3367-0F5CA9523505}"/>
              </a:ext>
            </a:extLst>
          </p:cNvPr>
          <p:cNvSpPr txBox="1"/>
          <p:nvPr/>
        </p:nvSpPr>
        <p:spPr bwMode="gray">
          <a:xfrm>
            <a:off x="3474284" y="5985772"/>
            <a:ext cx="1144814" cy="338554"/>
          </a:xfrm>
          <a:prstGeom prst="rect">
            <a:avLst/>
          </a:prstGeom>
          <a:noFill/>
        </p:spPr>
        <p:txBody>
          <a:bodyPr wrap="square" lIns="0" tIns="0" rIns="0" bIns="0" rtlCol="0">
            <a:spAutoFit/>
          </a:bodyPr>
          <a:lstStyle/>
          <a:p>
            <a:pPr algn="ctr"/>
            <a:r>
              <a:rPr lang="en-US" sz="1100" dirty="0">
                <a:solidFill>
                  <a:srgbClr val="000000"/>
                </a:solidFill>
              </a:rPr>
              <a:t>Integration/ orchestration API</a:t>
            </a:r>
          </a:p>
        </p:txBody>
      </p:sp>
      <p:grpSp>
        <p:nvGrpSpPr>
          <p:cNvPr id="55" name="Group 54">
            <a:extLst>
              <a:ext uri="{FF2B5EF4-FFF2-40B4-BE49-F238E27FC236}">
                <a16:creationId xmlns:a16="http://schemas.microsoft.com/office/drawing/2014/main" id="{F2259CF7-4708-A9A9-242A-DEE7BE64A1F9}"/>
              </a:ext>
            </a:extLst>
          </p:cNvPr>
          <p:cNvGrpSpPr/>
          <p:nvPr/>
        </p:nvGrpSpPr>
        <p:grpSpPr>
          <a:xfrm>
            <a:off x="3977528" y="6315779"/>
            <a:ext cx="119726" cy="239452"/>
            <a:chOff x="973183" y="4134394"/>
            <a:chExt cx="119726" cy="239452"/>
          </a:xfrm>
        </p:grpSpPr>
        <p:sp>
          <p:nvSpPr>
            <p:cNvPr id="56" name="Oval 55">
              <a:extLst>
                <a:ext uri="{FF2B5EF4-FFF2-40B4-BE49-F238E27FC236}">
                  <a16:creationId xmlns:a16="http://schemas.microsoft.com/office/drawing/2014/main" id="{9E924060-CD3A-6CC8-F5A4-8935F5FD022C}"/>
                </a:ext>
              </a:extLst>
            </p:cNvPr>
            <p:cNvSpPr/>
            <p:nvPr/>
          </p:nvSpPr>
          <p:spPr>
            <a:xfrm>
              <a:off x="973183" y="4134394"/>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7" name="Straight Connector 56">
              <a:extLst>
                <a:ext uri="{FF2B5EF4-FFF2-40B4-BE49-F238E27FC236}">
                  <a16:creationId xmlns:a16="http://schemas.microsoft.com/office/drawing/2014/main" id="{6E0CF875-2899-4D06-485C-9001AC61356B}"/>
                </a:ext>
              </a:extLst>
            </p:cNvPr>
            <p:cNvCxnSpPr>
              <a:cxnSpLocks/>
              <a:stCxn id="56" idx="4"/>
            </p:cNvCxnSpPr>
            <p:nvPr/>
          </p:nvCxnSpPr>
          <p:spPr>
            <a:xfrm>
              <a:off x="1033046" y="4254120"/>
              <a:ext cx="0" cy="119726"/>
            </a:xfrm>
            <a:prstGeom prst="line">
              <a:avLst/>
            </a:prstGeom>
            <a:ln w="12700">
              <a:solidFill>
                <a:srgbClr val="002856"/>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5B0FDE2C-C920-334F-5939-10A4C420A9B9}"/>
              </a:ext>
            </a:extLst>
          </p:cNvPr>
          <p:cNvSpPr txBox="1"/>
          <p:nvPr/>
        </p:nvSpPr>
        <p:spPr bwMode="gray">
          <a:xfrm>
            <a:off x="7696035" y="6784091"/>
            <a:ext cx="850101" cy="338554"/>
          </a:xfrm>
          <a:prstGeom prst="rect">
            <a:avLst/>
          </a:prstGeom>
          <a:noFill/>
        </p:spPr>
        <p:txBody>
          <a:bodyPr wrap="square" lIns="0" tIns="0" rIns="0" bIns="0" rtlCol="0">
            <a:spAutoFit/>
          </a:bodyPr>
          <a:lstStyle/>
          <a:p>
            <a:r>
              <a:rPr lang="en-US" sz="1100" dirty="0">
                <a:solidFill>
                  <a:srgbClr val="000000"/>
                </a:solidFill>
              </a:rPr>
              <a:t>AI agents/ services</a:t>
            </a:r>
          </a:p>
        </p:txBody>
      </p:sp>
      <p:pic>
        <p:nvPicPr>
          <p:cNvPr id="15" name="Picture 2">
            <a:extLst>
              <a:ext uri="{FF2B5EF4-FFF2-40B4-BE49-F238E27FC236}">
                <a16:creationId xmlns:a16="http://schemas.microsoft.com/office/drawing/2014/main" id="{2641351F-B0BE-88D5-407E-61079A99E506}"/>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398984" y="6792184"/>
            <a:ext cx="230030" cy="23003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a:extLst>
              <a:ext uri="{FF2B5EF4-FFF2-40B4-BE49-F238E27FC236}">
                <a16:creationId xmlns:a16="http://schemas.microsoft.com/office/drawing/2014/main" id="{0472D391-E192-13A2-E3FA-AFDEA39E01D8}"/>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32700" y="2159160"/>
            <a:ext cx="249402" cy="178144"/>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Straight Arrow Connector 32">
            <a:extLst>
              <a:ext uri="{FF2B5EF4-FFF2-40B4-BE49-F238E27FC236}">
                <a16:creationId xmlns:a16="http://schemas.microsoft.com/office/drawing/2014/main" id="{524C372F-7385-A219-700D-25E4AB2BE553}"/>
              </a:ext>
            </a:extLst>
          </p:cNvPr>
          <p:cNvCxnSpPr>
            <a:cxnSpLocks/>
          </p:cNvCxnSpPr>
          <p:nvPr/>
        </p:nvCxnSpPr>
        <p:spPr>
          <a:xfrm>
            <a:off x="1321540" y="2298943"/>
            <a:ext cx="736037" cy="0"/>
          </a:xfrm>
          <a:prstGeom prst="straightConnector1">
            <a:avLst/>
          </a:prstGeom>
          <a:ln w="19050" cap="flat">
            <a:solidFill>
              <a:srgbClr val="002856"/>
            </a:solidFill>
            <a:headEnd type="none" w="lg" len="sm"/>
            <a:tailEnd type="triangle" w="lg" len="sm"/>
          </a:ln>
        </p:spPr>
        <p:style>
          <a:lnRef idx="1">
            <a:schemeClr val="accent5"/>
          </a:lnRef>
          <a:fillRef idx="0">
            <a:schemeClr val="accent5"/>
          </a:fillRef>
          <a:effectRef idx="0">
            <a:schemeClr val="accent5"/>
          </a:effectRef>
          <a:fontRef idx="minor">
            <a:schemeClr val="tx1"/>
          </a:fontRef>
        </p:style>
      </p:cxnSp>
      <p:grpSp>
        <p:nvGrpSpPr>
          <p:cNvPr id="2" name="Group 1">
            <a:extLst>
              <a:ext uri="{FF2B5EF4-FFF2-40B4-BE49-F238E27FC236}">
                <a16:creationId xmlns:a16="http://schemas.microsoft.com/office/drawing/2014/main" id="{CD28520D-353F-91C4-DC3D-D8510C23B668}"/>
              </a:ext>
            </a:extLst>
          </p:cNvPr>
          <p:cNvGrpSpPr/>
          <p:nvPr/>
        </p:nvGrpSpPr>
        <p:grpSpPr>
          <a:xfrm>
            <a:off x="481927" y="989443"/>
            <a:ext cx="8511548" cy="420696"/>
            <a:chOff x="481927" y="989443"/>
            <a:chExt cx="8511548" cy="420696"/>
          </a:xfrm>
        </p:grpSpPr>
        <p:sp>
          <p:nvSpPr>
            <p:cNvPr id="477" name="TextBox 476">
              <a:extLst>
                <a:ext uri="{FF2B5EF4-FFF2-40B4-BE49-F238E27FC236}">
                  <a16:creationId xmlns:a16="http://schemas.microsoft.com/office/drawing/2014/main" id="{59D4CF16-F12D-B4D8-C4E8-410FDFA814CC}"/>
                </a:ext>
              </a:extLst>
            </p:cNvPr>
            <p:cNvSpPr txBox="1"/>
            <p:nvPr/>
          </p:nvSpPr>
          <p:spPr bwMode="gray">
            <a:xfrm>
              <a:off x="481927" y="1095077"/>
              <a:ext cx="125828" cy="123111"/>
            </a:xfrm>
            <a:prstGeom prst="rect">
              <a:avLst/>
            </a:prstGeom>
            <a:solidFill>
              <a:srgbClr val="002856"/>
            </a:solidFill>
            <a:ln w="12700">
              <a:noFill/>
              <a:prstDash val="dash"/>
            </a:ln>
          </p:spPr>
          <p:txBody>
            <a:bodyPr wrap="square" lIns="0" tIns="0" rIns="0" bIns="0" rtlCol="0">
              <a:spAutoFit/>
            </a:bodyPr>
            <a:lstStyle/>
            <a:p>
              <a:pPr algn="ctr"/>
              <a:endParaRPr lang="en-US" sz="800" dirty="0">
                <a:solidFill>
                  <a:srgbClr val="000000"/>
                </a:solidFill>
              </a:endParaRPr>
            </a:p>
          </p:txBody>
        </p:sp>
        <p:sp>
          <p:nvSpPr>
            <p:cNvPr id="472" name="TextBox 471">
              <a:extLst>
                <a:ext uri="{FF2B5EF4-FFF2-40B4-BE49-F238E27FC236}">
                  <a16:creationId xmlns:a16="http://schemas.microsoft.com/office/drawing/2014/main" id="{F1D12C01-1B6D-88F8-CB3B-9834318EC8CB}"/>
                </a:ext>
              </a:extLst>
            </p:cNvPr>
            <p:cNvSpPr txBox="1"/>
            <p:nvPr/>
          </p:nvSpPr>
          <p:spPr bwMode="gray">
            <a:xfrm>
              <a:off x="5003805" y="989443"/>
              <a:ext cx="1762015" cy="400110"/>
            </a:xfrm>
            <a:prstGeom prst="rect">
              <a:avLst/>
            </a:prstGeom>
            <a:noFill/>
          </p:spPr>
          <p:txBody>
            <a:bodyPr wrap="square" rIns="0" rtlCol="0">
              <a:spAutoFit/>
            </a:bodyPr>
            <a:lstStyle/>
            <a:p>
              <a:r>
                <a:rPr lang="en-US" sz="1000" dirty="0">
                  <a:solidFill>
                    <a:srgbClr val="000000"/>
                  </a:solidFill>
                </a:rPr>
                <a:t>App-to-service (north-south) communication</a:t>
              </a:r>
            </a:p>
          </p:txBody>
        </p:sp>
        <p:sp>
          <p:nvSpPr>
            <p:cNvPr id="527" name="TextBox 526">
              <a:extLst>
                <a:ext uri="{FF2B5EF4-FFF2-40B4-BE49-F238E27FC236}">
                  <a16:creationId xmlns:a16="http://schemas.microsoft.com/office/drawing/2014/main" id="{CB77B4C0-EFC3-3E45-FAA8-842C45FF55C9}"/>
                </a:ext>
              </a:extLst>
            </p:cNvPr>
            <p:cNvSpPr txBox="1"/>
            <p:nvPr/>
          </p:nvSpPr>
          <p:spPr bwMode="gray">
            <a:xfrm>
              <a:off x="6948475" y="1010029"/>
              <a:ext cx="2045000" cy="400110"/>
            </a:xfrm>
            <a:prstGeom prst="rect">
              <a:avLst/>
            </a:prstGeom>
            <a:noFill/>
          </p:spPr>
          <p:txBody>
            <a:bodyPr wrap="square" rIns="0" rtlCol="0">
              <a:spAutoFit/>
            </a:bodyPr>
            <a:lstStyle/>
            <a:p>
              <a:r>
                <a:rPr lang="en-US" sz="1000" dirty="0">
                  <a:solidFill>
                    <a:srgbClr val="000000"/>
                  </a:solidFill>
                </a:rPr>
                <a:t>Service-to-service (east-west) communication</a:t>
              </a:r>
            </a:p>
          </p:txBody>
        </p:sp>
        <p:sp>
          <p:nvSpPr>
            <p:cNvPr id="530" name="TextBox 529">
              <a:extLst>
                <a:ext uri="{FF2B5EF4-FFF2-40B4-BE49-F238E27FC236}">
                  <a16:creationId xmlns:a16="http://schemas.microsoft.com/office/drawing/2014/main" id="{02159EB9-7C61-14C9-51ED-AD719EF6AB2D}"/>
                </a:ext>
              </a:extLst>
            </p:cNvPr>
            <p:cNvSpPr txBox="1"/>
            <p:nvPr/>
          </p:nvSpPr>
          <p:spPr bwMode="gray">
            <a:xfrm>
              <a:off x="1419581" y="1095077"/>
              <a:ext cx="125828" cy="123111"/>
            </a:xfrm>
            <a:prstGeom prst="rect">
              <a:avLst/>
            </a:prstGeom>
            <a:noFill/>
            <a:ln w="12700">
              <a:solidFill>
                <a:schemeClr val="accent1">
                  <a:lumMod val="90000"/>
                  <a:lumOff val="10000"/>
                </a:schemeClr>
              </a:solidFill>
              <a:prstDash val="dash"/>
            </a:ln>
          </p:spPr>
          <p:txBody>
            <a:bodyPr wrap="square" lIns="0" tIns="0" rIns="0" bIns="0" rtlCol="0">
              <a:spAutoFit/>
            </a:bodyPr>
            <a:lstStyle/>
            <a:p>
              <a:pPr algn="ctr"/>
              <a:endParaRPr lang="en-US" sz="800" dirty="0">
                <a:solidFill>
                  <a:srgbClr val="000000"/>
                </a:solidFill>
              </a:endParaRPr>
            </a:p>
          </p:txBody>
        </p:sp>
        <p:sp>
          <p:nvSpPr>
            <p:cNvPr id="531" name="TextBox 530">
              <a:extLst>
                <a:ext uri="{FF2B5EF4-FFF2-40B4-BE49-F238E27FC236}">
                  <a16:creationId xmlns:a16="http://schemas.microsoft.com/office/drawing/2014/main" id="{11FEFE82-FA4D-B9AB-9B20-AD22640823DB}"/>
                </a:ext>
              </a:extLst>
            </p:cNvPr>
            <p:cNvSpPr txBox="1"/>
            <p:nvPr/>
          </p:nvSpPr>
          <p:spPr bwMode="gray">
            <a:xfrm>
              <a:off x="1542944" y="1021958"/>
              <a:ext cx="1160074" cy="246221"/>
            </a:xfrm>
            <a:prstGeom prst="rect">
              <a:avLst/>
            </a:prstGeom>
            <a:noFill/>
          </p:spPr>
          <p:txBody>
            <a:bodyPr wrap="square" rIns="0" rtlCol="0">
              <a:spAutoFit/>
            </a:bodyPr>
            <a:lstStyle/>
            <a:p>
              <a:r>
                <a:rPr lang="en-US" sz="1000" dirty="0">
                  <a:solidFill>
                    <a:srgbClr val="000000"/>
                  </a:solidFill>
                </a:rPr>
                <a:t>Logical grouping</a:t>
              </a:r>
            </a:p>
          </p:txBody>
        </p:sp>
        <p:sp>
          <p:nvSpPr>
            <p:cNvPr id="532" name="TextBox 531">
              <a:extLst>
                <a:ext uri="{FF2B5EF4-FFF2-40B4-BE49-F238E27FC236}">
                  <a16:creationId xmlns:a16="http://schemas.microsoft.com/office/drawing/2014/main" id="{4A0F481E-88C9-C96D-2C36-6E84C34D19E4}"/>
                </a:ext>
              </a:extLst>
            </p:cNvPr>
            <p:cNvSpPr txBox="1"/>
            <p:nvPr/>
          </p:nvSpPr>
          <p:spPr bwMode="gray">
            <a:xfrm>
              <a:off x="569369" y="1028419"/>
              <a:ext cx="893465" cy="246221"/>
            </a:xfrm>
            <a:prstGeom prst="rect">
              <a:avLst/>
            </a:prstGeom>
            <a:noFill/>
          </p:spPr>
          <p:txBody>
            <a:bodyPr wrap="square" rIns="0" rtlCol="0">
              <a:spAutoFit/>
            </a:bodyPr>
            <a:lstStyle/>
            <a:p>
              <a:r>
                <a:rPr lang="en-US" sz="1000" dirty="0">
                  <a:solidFill>
                    <a:srgbClr val="000000"/>
                  </a:solidFill>
                </a:rPr>
                <a:t>Component</a:t>
              </a:r>
            </a:p>
          </p:txBody>
        </p:sp>
        <p:cxnSp>
          <p:nvCxnSpPr>
            <p:cNvPr id="168" name="Straight Arrow Connector 167">
              <a:extLst>
                <a:ext uri="{FF2B5EF4-FFF2-40B4-BE49-F238E27FC236}">
                  <a16:creationId xmlns:a16="http://schemas.microsoft.com/office/drawing/2014/main" id="{91F707C2-6695-8B4A-A115-EC0A5D985268}"/>
                </a:ext>
              </a:extLst>
            </p:cNvPr>
            <p:cNvCxnSpPr>
              <a:cxnSpLocks/>
            </p:cNvCxnSpPr>
            <p:nvPr/>
          </p:nvCxnSpPr>
          <p:spPr>
            <a:xfrm>
              <a:off x="3482191" y="1160109"/>
              <a:ext cx="216014" cy="0"/>
            </a:xfrm>
            <a:prstGeom prst="straightConnector1">
              <a:avLst/>
            </a:prstGeom>
            <a:ln w="12700" cap="flat">
              <a:solidFill>
                <a:srgbClr val="002856"/>
              </a:solidFill>
              <a:headEnd type="none" w="lg" len="sm"/>
              <a:tailEnd type="triangle" w="lg" len="sm"/>
            </a:ln>
          </p:spPr>
          <p:style>
            <a:lnRef idx="1">
              <a:schemeClr val="accent5"/>
            </a:lnRef>
            <a:fillRef idx="0">
              <a:schemeClr val="accent5"/>
            </a:fillRef>
            <a:effectRef idx="0">
              <a:schemeClr val="accent5"/>
            </a:effectRef>
            <a:fontRef idx="minor">
              <a:schemeClr val="tx1"/>
            </a:fontRef>
          </p:style>
        </p:cxnSp>
        <p:sp>
          <p:nvSpPr>
            <p:cNvPr id="172" name="TextBox 171">
              <a:extLst>
                <a:ext uri="{FF2B5EF4-FFF2-40B4-BE49-F238E27FC236}">
                  <a16:creationId xmlns:a16="http://schemas.microsoft.com/office/drawing/2014/main" id="{590807D6-CA63-D457-6FD5-78F85622320C}"/>
                </a:ext>
              </a:extLst>
            </p:cNvPr>
            <p:cNvSpPr txBox="1"/>
            <p:nvPr/>
          </p:nvSpPr>
          <p:spPr bwMode="gray">
            <a:xfrm>
              <a:off x="3665039" y="1028419"/>
              <a:ext cx="1283658" cy="246221"/>
            </a:xfrm>
            <a:prstGeom prst="rect">
              <a:avLst/>
            </a:prstGeom>
            <a:noFill/>
          </p:spPr>
          <p:txBody>
            <a:bodyPr wrap="square" rIns="0" rtlCol="0">
              <a:spAutoFit/>
            </a:bodyPr>
            <a:lstStyle/>
            <a:p>
              <a:r>
                <a:rPr lang="en-US" sz="1000" dirty="0">
                  <a:solidFill>
                    <a:srgbClr val="000000"/>
                  </a:solidFill>
                </a:rPr>
                <a:t>User interactions</a:t>
              </a:r>
            </a:p>
          </p:txBody>
        </p:sp>
        <p:cxnSp>
          <p:nvCxnSpPr>
            <p:cNvPr id="22" name="Straight Arrow Connector 21">
              <a:extLst>
                <a:ext uri="{FF2B5EF4-FFF2-40B4-BE49-F238E27FC236}">
                  <a16:creationId xmlns:a16="http://schemas.microsoft.com/office/drawing/2014/main" id="{28150411-C4E7-920D-6779-418E2F83F347}"/>
                </a:ext>
              </a:extLst>
            </p:cNvPr>
            <p:cNvCxnSpPr>
              <a:cxnSpLocks/>
            </p:cNvCxnSpPr>
            <p:nvPr/>
          </p:nvCxnSpPr>
          <p:spPr>
            <a:xfrm>
              <a:off x="4808057" y="1158720"/>
              <a:ext cx="216014" cy="0"/>
            </a:xfrm>
            <a:prstGeom prst="straightConnector1">
              <a:avLst/>
            </a:prstGeom>
            <a:ln w="12700" cap="flat">
              <a:solidFill>
                <a:srgbClr val="FF540A"/>
              </a:solidFill>
              <a:headEnd type="none" w="lg" len="sm"/>
              <a:tailEnd type="triangle" w="lg" len="sm"/>
            </a:ln>
          </p:spPr>
          <p:style>
            <a:lnRef idx="1">
              <a:schemeClr val="accent5"/>
            </a:lnRef>
            <a:fillRef idx="0">
              <a:schemeClr val="accent5"/>
            </a:fillRef>
            <a:effectRef idx="0">
              <a:schemeClr val="accent5"/>
            </a:effectRef>
            <a:fontRef idx="minor">
              <a:schemeClr val="tx1"/>
            </a:fontRef>
          </p:style>
        </p:cxnSp>
        <p:cxnSp>
          <p:nvCxnSpPr>
            <p:cNvPr id="44" name="Straight Arrow Connector 43">
              <a:extLst>
                <a:ext uri="{FF2B5EF4-FFF2-40B4-BE49-F238E27FC236}">
                  <a16:creationId xmlns:a16="http://schemas.microsoft.com/office/drawing/2014/main" id="{A5CC8EE1-6583-DC5E-C2FD-90DD57BE558A}"/>
                </a:ext>
              </a:extLst>
            </p:cNvPr>
            <p:cNvCxnSpPr>
              <a:cxnSpLocks/>
            </p:cNvCxnSpPr>
            <p:nvPr/>
          </p:nvCxnSpPr>
          <p:spPr>
            <a:xfrm>
              <a:off x="6781364" y="1154760"/>
              <a:ext cx="216014" cy="0"/>
            </a:xfrm>
            <a:prstGeom prst="straightConnector1">
              <a:avLst/>
            </a:prstGeom>
            <a:ln w="12700" cap="flat">
              <a:solidFill>
                <a:srgbClr val="009AD7"/>
              </a:solidFill>
              <a:headEnd type="none" w="lg" len="sm"/>
              <a:tailEnd type="triangle" w="lg" len="sm"/>
            </a:ln>
          </p:spPr>
          <p:style>
            <a:lnRef idx="1">
              <a:schemeClr val="accent5"/>
            </a:lnRef>
            <a:fillRef idx="0">
              <a:schemeClr val="accent5"/>
            </a:fillRef>
            <a:effectRef idx="0">
              <a:schemeClr val="accent5"/>
            </a:effectRef>
            <a:fontRef idx="minor">
              <a:schemeClr val="tx1"/>
            </a:fontRef>
          </p:style>
        </p:cxnSp>
        <p:sp>
          <p:nvSpPr>
            <p:cNvPr id="47" name="Oval 46">
              <a:extLst>
                <a:ext uri="{FF2B5EF4-FFF2-40B4-BE49-F238E27FC236}">
                  <a16:creationId xmlns:a16="http://schemas.microsoft.com/office/drawing/2014/main" id="{A2ECC4A9-F3D7-2E06-D7C7-C2F2F84F2CA0}"/>
                </a:ext>
              </a:extLst>
            </p:cNvPr>
            <p:cNvSpPr/>
            <p:nvPr/>
          </p:nvSpPr>
          <p:spPr>
            <a:xfrm>
              <a:off x="2716615" y="1090313"/>
              <a:ext cx="119726" cy="119726"/>
            </a:xfrm>
            <a:prstGeom prst="ellipse">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8" name="TextBox 57">
              <a:extLst>
                <a:ext uri="{FF2B5EF4-FFF2-40B4-BE49-F238E27FC236}">
                  <a16:creationId xmlns:a16="http://schemas.microsoft.com/office/drawing/2014/main" id="{C2C41833-FBA6-E544-2B77-BCC7FE503FC2}"/>
                </a:ext>
              </a:extLst>
            </p:cNvPr>
            <p:cNvSpPr txBox="1"/>
            <p:nvPr/>
          </p:nvSpPr>
          <p:spPr bwMode="gray">
            <a:xfrm>
              <a:off x="2804167" y="1027066"/>
              <a:ext cx="687121" cy="246221"/>
            </a:xfrm>
            <a:prstGeom prst="rect">
              <a:avLst/>
            </a:prstGeom>
            <a:noFill/>
          </p:spPr>
          <p:txBody>
            <a:bodyPr wrap="square" rIns="0" rtlCol="0">
              <a:spAutoFit/>
            </a:bodyPr>
            <a:lstStyle/>
            <a:p>
              <a:r>
                <a:rPr lang="en-US" sz="1000" dirty="0">
                  <a:solidFill>
                    <a:srgbClr val="000000"/>
                  </a:solidFill>
                </a:rPr>
                <a:t>Interface</a:t>
              </a:r>
            </a:p>
          </p:txBody>
        </p:sp>
      </p:grpSp>
      <p:sp>
        <p:nvSpPr>
          <p:cNvPr id="520" name="Rectangle 519">
            <a:extLst>
              <a:ext uri="{FF2B5EF4-FFF2-40B4-BE49-F238E27FC236}">
                <a16:creationId xmlns:a16="http://schemas.microsoft.com/office/drawing/2014/main" id="{75806623-3076-A548-900F-5A764CC541C4}"/>
              </a:ext>
            </a:extLst>
          </p:cNvPr>
          <p:cNvSpPr/>
          <p:nvPr/>
        </p:nvSpPr>
        <p:spPr bwMode="gray">
          <a:xfrm>
            <a:off x="5723965" y="1972066"/>
            <a:ext cx="1715817" cy="732879"/>
          </a:xfrm>
          <a:prstGeom prst="rect">
            <a:avLst/>
          </a:prstGeom>
          <a:noFill/>
          <a:ln w="12700" cap="sq">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544" name="Graphic 543">
            <a:extLst>
              <a:ext uri="{FF2B5EF4-FFF2-40B4-BE49-F238E27FC236}">
                <a16:creationId xmlns:a16="http://schemas.microsoft.com/office/drawing/2014/main" id="{E897FBB3-9FB2-A732-C40C-4E42967B7708}"/>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830671" y="4616884"/>
            <a:ext cx="386520" cy="300627"/>
          </a:xfrm>
          <a:prstGeom prst="rect">
            <a:avLst/>
          </a:prstGeom>
        </p:spPr>
      </p:pic>
      <p:grpSp>
        <p:nvGrpSpPr>
          <p:cNvPr id="156" name="Group 155">
            <a:extLst>
              <a:ext uri="{FF2B5EF4-FFF2-40B4-BE49-F238E27FC236}">
                <a16:creationId xmlns:a16="http://schemas.microsoft.com/office/drawing/2014/main" id="{82B6AE5D-EA81-C10F-DDA7-C021192540F5}"/>
              </a:ext>
            </a:extLst>
          </p:cNvPr>
          <p:cNvGrpSpPr/>
          <p:nvPr/>
        </p:nvGrpSpPr>
        <p:grpSpPr>
          <a:xfrm>
            <a:off x="2347784" y="2709443"/>
            <a:ext cx="4247950" cy="482719"/>
            <a:chOff x="2347784" y="2709443"/>
            <a:chExt cx="4247950" cy="482719"/>
          </a:xfrm>
        </p:grpSpPr>
        <p:cxnSp>
          <p:nvCxnSpPr>
            <p:cNvPr id="548" name="Straight Connector 547">
              <a:extLst>
                <a:ext uri="{FF2B5EF4-FFF2-40B4-BE49-F238E27FC236}">
                  <a16:creationId xmlns:a16="http://schemas.microsoft.com/office/drawing/2014/main" id="{AFCAC50B-DA91-0829-AAA2-1EBEDA3EE1D0}"/>
                </a:ext>
              </a:extLst>
            </p:cNvPr>
            <p:cNvCxnSpPr>
              <a:cxnSpLocks/>
            </p:cNvCxnSpPr>
            <p:nvPr/>
          </p:nvCxnSpPr>
          <p:spPr>
            <a:xfrm>
              <a:off x="6587889" y="2709443"/>
              <a:ext cx="0" cy="265532"/>
            </a:xfrm>
            <a:prstGeom prst="line">
              <a:avLst/>
            </a:prstGeom>
            <a:ln w="19050">
              <a:solidFill>
                <a:srgbClr val="FF540A"/>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28F75B93-B0B9-D164-7368-5D0DA9930CE5}"/>
                </a:ext>
              </a:extLst>
            </p:cNvPr>
            <p:cNvCxnSpPr>
              <a:cxnSpLocks/>
            </p:cNvCxnSpPr>
            <p:nvPr/>
          </p:nvCxnSpPr>
          <p:spPr>
            <a:xfrm>
              <a:off x="2347784" y="2970818"/>
              <a:ext cx="4247950" cy="0"/>
            </a:xfrm>
            <a:prstGeom prst="line">
              <a:avLst/>
            </a:prstGeom>
            <a:ln w="19050">
              <a:solidFill>
                <a:srgbClr val="FF540A"/>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88F702E7-8947-8D9A-57B4-8A04BDFCAAA0}"/>
                </a:ext>
              </a:extLst>
            </p:cNvPr>
            <p:cNvCxnSpPr>
              <a:cxnSpLocks/>
            </p:cNvCxnSpPr>
            <p:nvPr/>
          </p:nvCxnSpPr>
          <p:spPr>
            <a:xfrm>
              <a:off x="2355124" y="2961409"/>
              <a:ext cx="0" cy="230753"/>
            </a:xfrm>
            <a:prstGeom prst="line">
              <a:avLst/>
            </a:prstGeom>
            <a:ln w="19050">
              <a:solidFill>
                <a:srgbClr val="FF540A"/>
              </a:solidFill>
              <a:tailEnd type="triangle" w="lg" len="sm"/>
            </a:ln>
          </p:spPr>
          <p:style>
            <a:lnRef idx="1">
              <a:schemeClr val="accent1"/>
            </a:lnRef>
            <a:fillRef idx="0">
              <a:schemeClr val="accent1"/>
            </a:fillRef>
            <a:effectRef idx="0">
              <a:schemeClr val="accent1"/>
            </a:effectRef>
            <a:fontRef idx="minor">
              <a:schemeClr val="tx1"/>
            </a:fontRef>
          </p:style>
        </p:cxnSp>
      </p:grpSp>
      <p:grpSp>
        <p:nvGrpSpPr>
          <p:cNvPr id="158" name="Group 157">
            <a:extLst>
              <a:ext uri="{FF2B5EF4-FFF2-40B4-BE49-F238E27FC236}">
                <a16:creationId xmlns:a16="http://schemas.microsoft.com/office/drawing/2014/main" id="{1333DF1A-68F5-02BC-C1BB-2FFEBF2AC42D}"/>
              </a:ext>
            </a:extLst>
          </p:cNvPr>
          <p:cNvGrpSpPr/>
          <p:nvPr/>
        </p:nvGrpSpPr>
        <p:grpSpPr>
          <a:xfrm>
            <a:off x="2422424" y="5120135"/>
            <a:ext cx="4173310" cy="817280"/>
            <a:chOff x="2422424" y="5120135"/>
            <a:chExt cx="4173310" cy="817280"/>
          </a:xfrm>
        </p:grpSpPr>
        <p:cxnSp>
          <p:nvCxnSpPr>
            <p:cNvPr id="561" name="Straight Connector 560">
              <a:extLst>
                <a:ext uri="{FF2B5EF4-FFF2-40B4-BE49-F238E27FC236}">
                  <a16:creationId xmlns:a16="http://schemas.microsoft.com/office/drawing/2014/main" id="{1583198E-BD46-02A2-A4C6-2490781C5914}"/>
                </a:ext>
              </a:extLst>
            </p:cNvPr>
            <p:cNvCxnSpPr>
              <a:cxnSpLocks/>
            </p:cNvCxnSpPr>
            <p:nvPr/>
          </p:nvCxnSpPr>
          <p:spPr>
            <a:xfrm>
              <a:off x="6587889" y="5120135"/>
              <a:ext cx="0" cy="329736"/>
            </a:xfrm>
            <a:prstGeom prst="line">
              <a:avLst/>
            </a:prstGeom>
            <a:ln w="19050">
              <a:solidFill>
                <a:srgbClr val="FF540A"/>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9CE46066-239A-95C9-9B4A-724974B2F4A0}"/>
                </a:ext>
              </a:extLst>
            </p:cNvPr>
            <p:cNvCxnSpPr>
              <a:cxnSpLocks/>
            </p:cNvCxnSpPr>
            <p:nvPr/>
          </p:nvCxnSpPr>
          <p:spPr>
            <a:xfrm>
              <a:off x="2422424" y="5443856"/>
              <a:ext cx="4173310" cy="0"/>
            </a:xfrm>
            <a:prstGeom prst="line">
              <a:avLst/>
            </a:prstGeom>
            <a:ln w="19050">
              <a:solidFill>
                <a:srgbClr val="FF540A"/>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02AA0443-8B84-2C01-6B4C-71EC1C8B899B}"/>
                </a:ext>
              </a:extLst>
            </p:cNvPr>
            <p:cNvCxnSpPr>
              <a:cxnSpLocks/>
            </p:cNvCxnSpPr>
            <p:nvPr/>
          </p:nvCxnSpPr>
          <p:spPr>
            <a:xfrm>
              <a:off x="2432244" y="5442298"/>
              <a:ext cx="0" cy="495117"/>
            </a:xfrm>
            <a:prstGeom prst="line">
              <a:avLst/>
            </a:prstGeom>
            <a:ln w="19050">
              <a:solidFill>
                <a:srgbClr val="FF540A"/>
              </a:solidFill>
              <a:tailEnd type="triangle" w="lg" len="sm"/>
            </a:ln>
          </p:spPr>
          <p:style>
            <a:lnRef idx="1">
              <a:schemeClr val="accent1"/>
            </a:lnRef>
            <a:fillRef idx="0">
              <a:schemeClr val="accent1"/>
            </a:fillRef>
            <a:effectRef idx="0">
              <a:schemeClr val="accent1"/>
            </a:effectRef>
            <a:fontRef idx="minor">
              <a:schemeClr val="tx1"/>
            </a:fontRef>
          </p:style>
        </p:cxnSp>
      </p:grpSp>
      <p:grpSp>
        <p:nvGrpSpPr>
          <p:cNvPr id="155" name="Group 154">
            <a:extLst>
              <a:ext uri="{FF2B5EF4-FFF2-40B4-BE49-F238E27FC236}">
                <a16:creationId xmlns:a16="http://schemas.microsoft.com/office/drawing/2014/main" id="{9219A074-6F96-AC1C-F9D4-BC4717818A36}"/>
              </a:ext>
            </a:extLst>
          </p:cNvPr>
          <p:cNvGrpSpPr/>
          <p:nvPr/>
        </p:nvGrpSpPr>
        <p:grpSpPr>
          <a:xfrm>
            <a:off x="1490133" y="3407477"/>
            <a:ext cx="536544" cy="3589867"/>
            <a:chOff x="1490133" y="3407477"/>
            <a:chExt cx="536544" cy="3589867"/>
          </a:xfrm>
        </p:grpSpPr>
        <p:cxnSp>
          <p:nvCxnSpPr>
            <p:cNvPr id="136" name="Straight Connector 135">
              <a:extLst>
                <a:ext uri="{FF2B5EF4-FFF2-40B4-BE49-F238E27FC236}">
                  <a16:creationId xmlns:a16="http://schemas.microsoft.com/office/drawing/2014/main" id="{8A9002DF-370D-E1BD-9CEA-7D6373A21389}"/>
                </a:ext>
              </a:extLst>
            </p:cNvPr>
            <p:cNvCxnSpPr>
              <a:cxnSpLocks/>
            </p:cNvCxnSpPr>
            <p:nvPr/>
          </p:nvCxnSpPr>
          <p:spPr>
            <a:xfrm flipH="1">
              <a:off x="1490133" y="6997344"/>
              <a:ext cx="536544" cy="0"/>
            </a:xfrm>
            <a:prstGeom prst="line">
              <a:avLst/>
            </a:prstGeom>
            <a:ln w="19050">
              <a:solidFill>
                <a:srgbClr val="009AD7"/>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5109DC42-AF0A-F5C8-D846-26C2A8216FC2}"/>
                </a:ext>
              </a:extLst>
            </p:cNvPr>
            <p:cNvCxnSpPr>
              <a:cxnSpLocks/>
            </p:cNvCxnSpPr>
            <p:nvPr/>
          </p:nvCxnSpPr>
          <p:spPr>
            <a:xfrm flipV="1">
              <a:off x="1496099" y="3408905"/>
              <a:ext cx="0" cy="3588439"/>
            </a:xfrm>
            <a:prstGeom prst="line">
              <a:avLst/>
            </a:prstGeom>
            <a:ln w="19050">
              <a:solidFill>
                <a:srgbClr val="009AD7"/>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512E5FA-FB77-174C-7E6E-74991E39A81D}"/>
                </a:ext>
              </a:extLst>
            </p:cNvPr>
            <p:cNvCxnSpPr>
              <a:cxnSpLocks/>
            </p:cNvCxnSpPr>
            <p:nvPr/>
          </p:nvCxnSpPr>
          <p:spPr>
            <a:xfrm flipH="1">
              <a:off x="1490133" y="3407477"/>
              <a:ext cx="429345" cy="0"/>
            </a:xfrm>
            <a:prstGeom prst="line">
              <a:avLst/>
            </a:prstGeom>
            <a:ln w="19050">
              <a:solidFill>
                <a:srgbClr val="009AD7"/>
              </a:solidFill>
              <a:headEnd type="triangle" w="lg" len="sm"/>
            </a:ln>
          </p:spPr>
          <p:style>
            <a:lnRef idx="1">
              <a:schemeClr val="accent1"/>
            </a:lnRef>
            <a:fillRef idx="0">
              <a:schemeClr val="accent1"/>
            </a:fillRef>
            <a:effectRef idx="0">
              <a:schemeClr val="accent1"/>
            </a:effectRef>
            <a:fontRef idx="minor">
              <a:schemeClr val="tx1"/>
            </a:fontRef>
          </p:style>
        </p:cxnSp>
      </p:grpSp>
      <p:sp>
        <p:nvSpPr>
          <p:cNvPr id="163" name="TextBox 162">
            <a:extLst>
              <a:ext uri="{FF2B5EF4-FFF2-40B4-BE49-F238E27FC236}">
                <a16:creationId xmlns:a16="http://schemas.microsoft.com/office/drawing/2014/main" id="{FD9AE647-EE6D-7790-5EE7-B52AB93B69C5}"/>
              </a:ext>
            </a:extLst>
          </p:cNvPr>
          <p:cNvSpPr txBox="1"/>
          <p:nvPr/>
        </p:nvSpPr>
        <p:spPr>
          <a:xfrm>
            <a:off x="393031" y="7698935"/>
            <a:ext cx="6098146" cy="438582"/>
          </a:xfrm>
          <a:prstGeom prst="rect">
            <a:avLst/>
          </a:prstGeom>
          <a:noFill/>
        </p:spPr>
        <p:txBody>
          <a:bodyPr wrap="square">
            <a:spAutoFit/>
          </a:bodyPr>
          <a:lstStyle/>
          <a:p>
            <a:pPr>
              <a:spcBef>
                <a:spcPts val="300"/>
              </a:spcBef>
            </a:pPr>
            <a:r>
              <a:rPr lang="en-US" sz="1000" dirty="0">
                <a:solidFill>
                  <a:srgbClr val="6F7878"/>
                </a:solidFill>
                <a:latin typeface="Arial" panose="020B0604020202020204" pitchFamily="34" charset="0"/>
                <a:cs typeface="Arial" panose="020B0604020202020204" pitchFamily="34" charset="0"/>
              </a:rPr>
              <a:t>Source: Gartner</a:t>
            </a:r>
          </a:p>
          <a:p>
            <a:pPr>
              <a:spcBef>
                <a:spcPts val="300"/>
              </a:spcBef>
            </a:pPr>
            <a:r>
              <a:rPr lang="en-IN" sz="1000" dirty="0">
                <a:solidFill>
                  <a:srgbClr val="6F7878"/>
                </a:solidFill>
                <a:effectLst/>
                <a:latin typeface="Arial" panose="020B0604020202020204" pitchFamily="34" charset="0"/>
                <a:cs typeface="Arial" panose="020B0604020202020204" pitchFamily="34" charset="0"/>
              </a:rPr>
              <a:t>820726</a:t>
            </a:r>
          </a:p>
        </p:txBody>
      </p:sp>
    </p:spTree>
    <p:custDataLst>
      <p:tags r:id="rId1"/>
    </p:custDataLst>
    <p:extLst>
      <p:ext uri="{BB962C8B-B14F-4D97-AF65-F5344CB8AC3E}">
        <p14:creationId xmlns:p14="http://schemas.microsoft.com/office/powerpoint/2010/main" val="34848983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ELFILE" val="C:\Users\dsatterf\Documents\Working\TEMP GRADS\Templates\Sample_Charts.xlsx"/>
  <p:tag name="CHARTSHEET" val="C_Bar"/>
  <p:tag name="DATASHEET" val="D_C_Bar"/>
  <p:tag name="CHARTNAME" val="C_Bar"/>
</p:tagLst>
</file>

<file path=ppt/theme/theme1.xml><?xml version="1.0" encoding="utf-8"?>
<a:theme xmlns:a="http://schemas.openxmlformats.org/drawingml/2006/main" name="White bkgrnd master">
  <a:themeElements>
    <a:clrScheme name="Gartner White Bkgrnd">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3D3D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tlCol="0">
        <a:spAutoFit/>
      </a:bodyPr>
      <a:lstStyle>
        <a:defPPr algn="l">
          <a:defRPr sz="900" dirty="0" smtClean="0"/>
        </a:defPPr>
      </a:lstStyle>
    </a:txDef>
  </a:objectDefaults>
  <a:extraClrSchemeLst/>
  <a:custClrLst>
    <a:custClr name="New Gartner Blue">
      <a:srgbClr val="002856"/>
    </a:custClr>
    <a:custClr name="Sky">
      <a:srgbClr val="009AD7"/>
    </a:custClr>
    <a:custClr name="Tangerine">
      <a:srgbClr val="FF540A"/>
    </a:custClr>
    <a:custClr name="Lemon">
      <a:srgbClr val="FEC10D"/>
    </a:custClr>
    <a:custClr name="Rose">
      <a:srgbClr val="E81159"/>
    </a:custClr>
    <a:custClr name="Steel">
      <a:srgbClr val="6F7878"/>
    </a:custClr>
    <a:custClr name="Black">
      <a:srgbClr val="000000"/>
    </a:custClr>
    <a:custClr name="White">
      <a:srgbClr val="FFFFFF"/>
    </a:custClr>
    <a:custClr name="White">
      <a:srgbClr val="FFFFFF"/>
    </a:custClr>
    <a:custClr name="Error Red">
      <a:srgbClr val="DE0A01"/>
    </a:custClr>
    <a:custClr name="New Gartner Blue Tint1">
      <a:srgbClr val="6A80A3"/>
    </a:custClr>
    <a:custClr name="Sky Tint1">
      <a:srgbClr val="49C5F4"/>
    </a:custClr>
    <a:custClr name="Tangerine Tint1">
      <a:srgbClr val="F8AF79"/>
    </a:custClr>
    <a:custClr name="Lemon Tint1">
      <a:srgbClr val="FFE48E"/>
    </a:custClr>
    <a:custClr name="Rose Tint1">
      <a:srgbClr val="F4729D"/>
    </a:custClr>
    <a:custClr name="Steel Tint1">
      <a:srgbClr val="979D9D"/>
    </a:custClr>
    <a:custClr name="White">
      <a:srgbClr val="FFFFFF"/>
    </a:custClr>
    <a:custClr name="White">
      <a:srgbClr val="FFFFFF"/>
    </a:custClr>
    <a:custClr name="White">
      <a:srgbClr val="FFFFFF"/>
    </a:custClr>
    <a:custClr name="Warning Yellow">
      <a:srgbClr val="F5AB23"/>
    </a:custClr>
    <a:custClr name="New Gartner Blue Tint2">
      <a:srgbClr val="A1B3CA"/>
    </a:custClr>
    <a:custClr name="Sky Tint2">
      <a:srgbClr val="91DCF8"/>
    </a:custClr>
    <a:custClr name="Tangerine Tint2">
      <a:srgbClr val="FBC9A6"/>
    </a:custClr>
    <a:custClr name="Lemon Tint2">
      <a:srgbClr val="FFEDB3"/>
    </a:custClr>
    <a:custClr name="Rose Tint2">
      <a:srgbClr val="F8A1BD"/>
    </a:custClr>
    <a:custClr name="Border Gray">
      <a:srgbClr val="D3D3D3"/>
    </a:custClr>
    <a:custClr name="White">
      <a:srgbClr val="FFFFFF"/>
    </a:custClr>
    <a:custClr name="White">
      <a:srgbClr val="FFFFFF"/>
    </a:custClr>
    <a:custClr name="White">
      <a:srgbClr val="FFFFFF"/>
    </a:custClr>
    <a:custClr name="Success Green">
      <a:srgbClr val="00A76D"/>
    </a:custClr>
    <a:custClr name="New Gartner Blue Tint3">
      <a:srgbClr val="D0DEEA"/>
    </a:custClr>
    <a:custClr name="Sky Tint3">
      <a:srgbClr val="DAF3FD"/>
    </a:custClr>
    <a:custClr name="White">
      <a:srgbClr val="FFFFFF"/>
    </a:custClr>
    <a:custClr name="White">
      <a:srgbClr val="FFFFFF"/>
    </a:custClr>
    <a:custClr name="Rose Tint3">
      <a:srgbClr val="F9C1D2"/>
    </a:custClr>
    <a:custClr name="Background Gray">
      <a:srgbClr val="F4F4F4"/>
    </a:custClr>
    <a:custClr name="White">
      <a:srgbClr val="FFFFFF"/>
    </a:custClr>
    <a:custClr name="White">
      <a:srgbClr val="FFFFFF"/>
    </a:custClr>
    <a:custClr name="White">
      <a:srgbClr val="FFFFFF"/>
    </a:custClr>
    <a:custClr name="White">
      <a:srgbClr val="FFFFFF"/>
    </a:custClr>
    <a:custClr name="New Gartner Blue Dark">
      <a:srgbClr val="355578"/>
    </a:custClr>
    <a:custClr name="Sky Dark">
      <a:srgbClr val="0074AD"/>
    </a:custClr>
    <a:custClr name="Tangerine Dark">
      <a:srgbClr val="932F18"/>
    </a:custClr>
    <a:custClr name="Lemon Dark">
      <a:srgbClr val="BF920B"/>
    </a:custClr>
    <a:custClr name="Rose Dark">
      <a:srgbClr val="AF0D43"/>
    </a:custClr>
    <a:custClr name="Steel Dark">
      <a:srgbClr val="535A54"/>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eb Graphics template" id="{E83FF059-FAB6-7D43-A693-CDF0AE63B443}" vid="{9B2CBBD2-A04B-4E40-8F84-41CB8B75D7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tner">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289A8C450F9054EB29426F7CEFE03A5" ma:contentTypeVersion="10" ma:contentTypeDescription="Crear nuevo documento." ma:contentTypeScope="" ma:versionID="b9bdd79b3e6984eff7da9e46a399e4fc">
  <xsd:schema xmlns:xsd="http://www.w3.org/2001/XMLSchema" xmlns:xs="http://www.w3.org/2001/XMLSchema" xmlns:p="http://schemas.microsoft.com/office/2006/metadata/properties" xmlns:ns2="738852dc-be73-472e-9db2-44f2c719d44c" targetNamespace="http://schemas.microsoft.com/office/2006/metadata/properties" ma:root="true" ma:fieldsID="0f61f24040f775bd695a7b5bdd7cd3ae" ns2:_="">
    <xsd:import namespace="738852dc-be73-472e-9db2-44f2c719d44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8852dc-be73-472e-9db2-44f2c719d4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bb83c93d-21d4-42b2-83de-45f581889dfe"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8852dc-be73-472e-9db2-44f2c719d44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2E0B584-CE1E-4B0B-BE44-6C3F1C94D824}"/>
</file>

<file path=customXml/itemProps2.xml><?xml version="1.0" encoding="utf-8"?>
<ds:datastoreItem xmlns:ds="http://schemas.openxmlformats.org/officeDocument/2006/customXml" ds:itemID="{5D9052D4-AA9B-414C-92EA-4821D402DFFF}"/>
</file>

<file path=customXml/itemProps3.xml><?xml version="1.0" encoding="utf-8"?>
<ds:datastoreItem xmlns:ds="http://schemas.openxmlformats.org/officeDocument/2006/customXml" ds:itemID="{C63D05C9-B1B8-40FD-BFC8-6CF571712BC5}"/>
</file>

<file path=docProps/app.xml><?xml version="1.0" encoding="utf-8"?>
<Properties xmlns="http://schemas.openxmlformats.org/officeDocument/2006/extended-properties" xmlns:vt="http://schemas.openxmlformats.org/officeDocument/2006/docPropsVTypes">
  <Template>White bkgrnd master</Template>
  <TotalTime>10372</TotalTime>
  <Words>188</Words>
  <Application>Microsoft Office PowerPoint</Application>
  <PresentationFormat>Custom</PresentationFormat>
  <Paragraphs>86</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 Unicode MS</vt:lpstr>
      <vt:lpstr>Arial</vt:lpstr>
      <vt:lpstr>Arial Black</vt:lpstr>
      <vt:lpstr>Calibri</vt:lpstr>
      <vt:lpstr>Wingdings</vt:lpstr>
      <vt:lpstr>White bkgrnd master</vt:lpstr>
      <vt:lpstr>Reference Architecture Brief: Composable APIs, Services and Applications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Template – Portrait</dc:title>
  <dc:creator>Paul,Papiya</dc:creator>
  <cp:lastModifiedBy>Jill Reisfeld</cp:lastModifiedBy>
  <cp:revision>657</cp:revision>
  <dcterms:created xsi:type="dcterms:W3CDTF">2019-12-09T08:14:33Z</dcterms:created>
  <dcterms:modified xsi:type="dcterms:W3CDTF">2025-03-10T14:17:14Z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0x0101005289A8C450F9054EB29426F7CEFE03A5</vt:lpwstr>
  </property>
</Properties>
</file>